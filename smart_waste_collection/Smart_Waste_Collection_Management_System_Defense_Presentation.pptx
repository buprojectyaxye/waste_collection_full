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Honorable members of the examination committee, supervisor Eng. Isse Mahamed Abdi, and respected faculty members, welcome to our final-year project defense. We are Group Seven, presenting our project: Smart Waste Collection Management System developed for Mogadishu municipal waste operations.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Waste management is a vital urban service. In Mogadishu, rapid population growth has overwhelmed traditional garbage collection. Without digital coordination, trucks operate blindly and waste accumulates on streets, threatening public health. Our project introduces a computerized web framework to solve this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identified in our research is fourfold: manual dispatching, communication breakdown between residents and collectors, lack of field tracking for drivers, and financial leakage from cash collections. Our system directly addresses each of these four pain points.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aim of our project, as stated in Chapter 1 of our thesis, is to design and develop a web-based Waste Collection Management System using PHP and MySQL. This system connects residents, administrators, and drivers into a single synchronized digital workflow.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achieve our main aim, we defined three specific objectives: analyzing existing manual workflows in local firms like Ifiye Co., designing a multi-portal architecture for three user roles, and engineering a PHP/MySQL backend with automated 1-to-1 district driver dispatch.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research was guided by three key questions focused on digitizing manual workflows, establishing real-time communication across three user portals, and eliminating cash revenue leakage through digital mobile money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provides practical benefits for five key stakeholder groups: residents gain service transparency, waste companies prevent revenue leakage, drivers receive clear district routing, admins gain full control, and the community benefits from public health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crucial to clarify our scope. In scope are all features implemented in our system across Mogadishu's 18 districts. Out of scope, as documented in Chapter 5 of our thesis, are native app store binaries, direct commercial telecom USSD API sandbox access, and physical IoT truck sensors.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reviewed existing literature. Traditional systems operate on static routes and cash payments. Our research gap in Somalia is the lack of an integrated triple-portal platform that connects citizens, management, and field drivers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 detailed our research methodology. We adopted the Agile Scrum framework across three iterative sprints. This allowed continuous testing and refinement of backend PHP REST APIs and frontend responsive portals.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requirements were divided into Functional requirements—such as auto-dispatch, EVC payment, and messaging—and Non-Functional requirements covering Bcrypt security, responsive UI usability, and output buffer safety.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technology listed here is actively used in our system: PHP 8.x for backend REST APIs, MySQL for relational storage, HTML5/CSS3/JS/Bootstrap 5 for frontend interfaces, Leaflet.js for maps, and jsPDF for PDF statement exports.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follows a classic 3-Tier Architecture: Presentation Layer for user interfaces, Application Layer powered by PHP REST APIs handling auto-dispatch logic, and Database Layer with MySQL for relational storage.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consists of three dedicated portals: Resident Portal for scheduling and payments, Admin Dashboard for central logistics and driver onboarding, and Driver Portal for outdoor field job execution.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 Case diagram highlights three primary actors: Resident initiating requests and payments, Admin managing driver onboarding and system monitoring, and Driver executing field collection tasks.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database schema `smart_waste_db` is normalized in 3rd Normal Form. Primary keys and Foreign keys connect users, residents, drivers, requests, payments, and notifications, ensuring data integrity.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displays live system screenshots from our Resident Portal. Residents select their Mogadishu district during registration, schedule pickups, settle fees via EVC Plus, and view chronological request status logs.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screenshot of the Admin Dashboard. Administrators can monitor real-time system metrics, onboard fleet drivers to dedicated districts, track incoming pickup requests, and review payment statuses.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Driver Portal interface. Drivers toggle their duty status, view assigned collection jobs in their district, launch route maps, update status to Completed, and review their work history.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details the complete operational workflow from resident request submission to automated driver dispatch, driver acceptance, trip execution, and final status completion.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payment module simulates EVC Plus mobile money transactions. The system automatically locks the service plan fee, displays a 4-digit USSD PIN modal, verifies payment, and logs transactions directly into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documented in Appendix C of our thesis, comprehensive User Acceptance Testing was performed across all six core modules. All test cases, including auto-dispatch, payment verification, and buffer safety, passed successfully.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achieved significant results: complete digitization of Mogadishu's 18 districts, elimination of cash revenue leakage, 100% request tracking transparency, and automated PDF statement reporting.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technical contributions include a modular 3-tier architecture, automated 1-to-1 district auto-dispatch algorithm, output buffer safety purging preventing JSON errors, and robust Bcrypt/RBAC security.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accordance with Chapter 5, current limitations are clearly separated from future work. Future enhancements include IoT smart bin fill-level sensors, AI route optimization algorithms, and native mobile apps.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Waste Collection Management System successfully addresses urban sanitation challenges in Mogadishu by providing a secure, synchronized web platform connecting citizens, administrators, and drivers.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recommend municipal adoption by local waste firms, digital training for truck drivers, and strategic partnerships with local telecom providers for commercial USSD API access.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summary flow demonstrates the live operational loop from resident request and payment to admin monitoring, driver execution, and final PDF statement generation.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honorable supervisors and examiners for your attention. We are now ready to answer any questions and receive your valued feedback on our Smart Waste Collection Management System.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ystem_hero_banner_1789150463440.jpg"/>
          <p:cNvPicPr>
            <a:picLocks noChangeAspect="1"/>
          </p:cNvPicPr>
          <p:nvPr/>
        </p:nvPicPr>
        <p:blipFill>
          <a:blip r:embed="rId2"/>
          <a:stretch>
            <a:fillRect/>
          </a:stretch>
        </p:blipFill>
        <p:spPr>
          <a:xfrm>
            <a:off x="6217920" y="731520"/>
            <a:ext cx="5486400" cy="3062177"/>
          </a:xfrm>
          <a:prstGeom prst="rect">
            <a:avLst/>
          </a:prstGeom>
        </p:spPr>
      </p:pic>
      <p:sp>
        <p:nvSpPr>
          <p:cNvPr id="4" name="TextBox 3"/>
          <p:cNvSpPr txBox="1"/>
          <p:nvPr/>
        </p:nvSpPr>
        <p:spPr>
          <a:xfrm>
            <a:off x="548640" y="548640"/>
            <a:ext cx="5486400" cy="5669280"/>
          </a:xfrm>
          <a:prstGeom prst="rect">
            <a:avLst/>
          </a:prstGeom>
          <a:noFill/>
        </p:spPr>
        <p:txBody>
          <a:bodyPr wrap="square">
            <a:spAutoFit/>
          </a:bodyPr>
          <a:lstStyle/>
          <a:p>
            <a:pPr>
              <a:defRPr sz="1400" b="1">
                <a:solidFill>
                  <a:srgbClr val="34D399"/>
                </a:solidFill>
              </a:defRPr>
            </a:pPr>
            <a:r>
              <a:t>BENADIR UNIVERSITY</a:t>
            </a:r>
          </a:p>
          <a:p>
            <a:pPr>
              <a:spcAft>
                <a:spcPts val="2000"/>
              </a:spcAft>
              <a:defRPr sz="1200">
                <a:solidFill>
                  <a:srgbClr val="CBD5E1"/>
                </a:solidFill>
              </a:defRPr>
            </a:pPr>
            <a:r>
              <a:t>Faculty of Computer Science &amp; IT</a:t>
            </a:r>
          </a:p>
          <a:p>
            <a:pPr>
              <a:spcAft>
                <a:spcPts val="1500"/>
              </a:spcAft>
              <a:defRPr sz="2400" b="1">
                <a:solidFill>
                  <a:srgbClr val="FFFFFF"/>
                </a:solidFill>
              </a:defRPr>
            </a:pPr>
            <a:r>
              <a:t>SMART WASTE COLLECTION MANAGEMENT SYSTEM</a:t>
            </a:r>
          </a:p>
          <a:p>
            <a:pPr>
              <a:spcAft>
                <a:spcPts val="2500"/>
              </a:spcAft>
              <a:defRPr sz="1300">
                <a:solidFill>
                  <a:srgbClr val="94A3B8"/>
                </a:solidFill>
              </a:defRPr>
            </a:pPr>
            <a:r>
              <a:t>Bachelor Thesis Final Project Defense</a:t>
            </a:r>
          </a:p>
          <a:p>
            <a:pPr>
              <a:spcAft>
                <a:spcPts val="1500"/>
              </a:spcAft>
              <a:defRPr sz="1000">
                <a:solidFill>
                  <a:srgbClr val="FFFFFF"/>
                </a:solidFill>
              </a:defRPr>
            </a:pPr>
            <a:r>
              <a:t>STUDENTS (GROUP SEVEN):</a:t>
            </a:r>
            <a:br/>
            <a:r>
              <a:t>1. Yahye Abdi Mohamud</a:t>
            </a:r>
            <a:br/>
            <a:r>
              <a:t>2. MahmedAmin Abbdisalan Ali</a:t>
            </a:r>
            <a:br/>
            <a:r>
              <a:t>3. Abdirsaq Isse Mahamed</a:t>
            </a:r>
            <a:br/>
            <a:r>
              <a:t>4. Abdimalik Nuur Ali</a:t>
            </a:r>
            <a:br/>
            <a:r>
              <a:t>5. Nuur Ahmed Osble</a:t>
            </a:r>
            <a:br/>
            <a:r>
              <a:t>6. Sahid Hussein Isse</a:t>
            </a:r>
            <a:br/>
            <a:r>
              <a:t>7. Nafiso Abdullahi Abdirahman</a:t>
            </a:r>
            <a:br/>
            <a:r>
              <a:t>8. Maryan Mahamed Duale</a:t>
            </a:r>
          </a:p>
          <a:p>
            <a:pPr>
              <a:defRPr sz="1100" b="1">
                <a:solidFill>
                  <a:srgbClr val="34D399"/>
                </a:solidFill>
              </a:defRPr>
            </a:pPr>
            <a:r>
              <a:t>SUPERVISOR: Eng. Isse Mahamed Abdi</a:t>
            </a:r>
            <a:br/>
            <a:r>
              <a:t>ACADEMIC YEAR: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Introduction &amp; Project Background</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280160"/>
            <a:ext cx="5303520" cy="48463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1600" b="1">
                <a:solidFill>
                  <a:srgbClr val="1B5E20"/>
                </a:solidFill>
              </a:defRPr>
            </a:pPr>
            <a:r>
              <a:t>Urban Waste Management Context</a:t>
            </a:r>
          </a:p>
          <a:p>
            <a:pPr>
              <a:spcAft>
                <a:spcPts val="1000"/>
              </a:spcAft>
              <a:defRPr sz="1200">
                <a:solidFill>
                  <a:srgbClr val="1E293B"/>
                </a:solidFill>
              </a:defRPr>
            </a:pPr>
            <a:r>
              <a:t>• Urban Sanitation Challenge: Mogadishu generates over 2,500 tons of solid waste daily due to rapid urbanization.</a:t>
            </a:r>
          </a:p>
          <a:p>
            <a:pPr>
              <a:spcAft>
                <a:spcPts val="1000"/>
              </a:spcAft>
              <a:defRPr sz="1200">
                <a:solidFill>
                  <a:srgbClr val="1E293B"/>
                </a:solidFill>
              </a:defRPr>
            </a:pPr>
            <a:r>
              <a:t>• Public Health &amp; Environment: Improper waste disposal leads to roadside accumulation, waterborne disease vectors (cholera, typhoid), and clogged drainage.</a:t>
            </a:r>
          </a:p>
          <a:p>
            <a:pPr>
              <a:spcAft>
                <a:spcPts val="1000"/>
              </a:spcAft>
              <a:defRPr sz="1200">
                <a:solidFill>
                  <a:srgbClr val="1E293B"/>
                </a:solidFill>
              </a:defRPr>
            </a:pPr>
            <a:r>
              <a:t>• Operational Inefficiencies: Traditional waste collection relies heavily on manual paper logs, unannounced truck visits, and verbal dispatch.</a:t>
            </a:r>
          </a:p>
          <a:p>
            <a:pPr>
              <a:spcAft>
                <a:spcPts val="1000"/>
              </a:spcAft>
              <a:defRPr sz="1200">
                <a:solidFill>
                  <a:srgbClr val="1E293B"/>
                </a:solidFill>
              </a:defRPr>
            </a:pPr>
            <a:r>
              <a:t>• Computerized Intervention: Need for a centralized web-based system connecting Residents, Administrators, and Drivers in real-time.</a:t>
            </a:r>
          </a:p>
        </p:txBody>
      </p:sp>
      <p:pic>
        <p:nvPicPr>
          <p:cNvPr id="8" name="Picture 7" descr="system_hero_banner_1789150463440.jpg"/>
          <p:cNvPicPr>
            <a:picLocks noChangeAspect="1"/>
          </p:cNvPicPr>
          <p:nvPr/>
        </p:nvPicPr>
        <p:blipFill>
          <a:blip r:embed="rId2"/>
          <a:stretch>
            <a:fillRect/>
          </a:stretch>
        </p:blipFill>
        <p:spPr>
          <a:xfrm>
            <a:off x="6217920" y="1280160"/>
            <a:ext cx="5394960" cy="30111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Problem Statement</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280160"/>
            <a:ext cx="5394960" cy="2286000"/>
          </a:xfrm>
          <a:prstGeom prst="roundRect">
            <a:avLst/>
          </a:prstGeom>
          <a:solidFill>
            <a:srgbClr val="FEF2F2"/>
          </a:solidFill>
          <a:ln>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E11D48"/>
                </a:solidFill>
              </a:defRPr>
            </a:pPr>
            <a:r>
              <a:t>⚠️ Manual Dispatch &amp; Verbal Communication</a:t>
            </a:r>
          </a:p>
          <a:p>
            <a:pPr>
              <a:defRPr sz="1100">
                <a:solidFill>
                  <a:srgbClr val="1E293B"/>
                </a:solidFill>
              </a:defRPr>
            </a:pPr>
            <a:r>
              <a:t>Sanitation firms rely on non-digitized paper logs and verbal instructions, leading to delayed truck dispatch and missed pickups.</a:t>
            </a:r>
          </a:p>
        </p:txBody>
      </p:sp>
      <p:sp>
        <p:nvSpPr>
          <p:cNvPr id="8" name="Rounded Rectangle 7"/>
          <p:cNvSpPr/>
          <p:nvPr/>
        </p:nvSpPr>
        <p:spPr>
          <a:xfrm>
            <a:off x="6217920" y="1280160"/>
            <a:ext cx="5394960" cy="2286000"/>
          </a:xfrm>
          <a:prstGeom prst="roundRect">
            <a:avLst/>
          </a:prstGeom>
          <a:solidFill>
            <a:srgbClr val="FEF2F2"/>
          </a:solidFill>
          <a:ln>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E11D48"/>
                </a:solidFill>
              </a:defRPr>
            </a:pPr>
            <a:r>
              <a:t>⚠️ Information Gap &amp; Passive Residents</a:t>
            </a:r>
          </a:p>
          <a:p>
            <a:pPr>
              <a:defRPr sz="1100">
                <a:solidFill>
                  <a:srgbClr val="1E293B"/>
                </a:solidFill>
              </a:defRPr>
            </a:pPr>
            <a:r>
              <a:t>Residents have no digital portal to request pickups on demand or track when trucks will arrive, resulting in roadside dumping.</a:t>
            </a:r>
          </a:p>
        </p:txBody>
      </p:sp>
      <p:sp>
        <p:nvSpPr>
          <p:cNvPr id="9" name="Rounded Rectangle 8"/>
          <p:cNvSpPr/>
          <p:nvPr/>
        </p:nvSpPr>
        <p:spPr>
          <a:xfrm>
            <a:off x="548640" y="3840480"/>
            <a:ext cx="5394960" cy="2286000"/>
          </a:xfrm>
          <a:prstGeom prst="roundRect">
            <a:avLst/>
          </a:prstGeom>
          <a:solidFill>
            <a:srgbClr val="FEF2F2"/>
          </a:solidFill>
          <a:ln>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E11D48"/>
                </a:solidFill>
              </a:defRPr>
            </a:pPr>
            <a:r>
              <a:t>⚠️ Driver Tracking 'Digital Black Hole'</a:t>
            </a:r>
          </a:p>
          <a:p>
            <a:pPr>
              <a:defRPr sz="1100">
                <a:solidFill>
                  <a:srgbClr val="1E293B"/>
                </a:solidFill>
              </a:defRPr>
            </a:pPr>
            <a:r>
              <a:t>Once drivers leave central depots, management lacks real-time visibility into their active location, job progress, or status.</a:t>
            </a:r>
          </a:p>
        </p:txBody>
      </p:sp>
      <p:sp>
        <p:nvSpPr>
          <p:cNvPr id="10" name="Rounded Rectangle 9"/>
          <p:cNvSpPr/>
          <p:nvPr/>
        </p:nvSpPr>
        <p:spPr>
          <a:xfrm>
            <a:off x="6217920" y="3840480"/>
            <a:ext cx="5394960" cy="2286000"/>
          </a:xfrm>
          <a:prstGeom prst="roundRect">
            <a:avLst/>
          </a:prstGeom>
          <a:solidFill>
            <a:srgbClr val="FEF2F2"/>
          </a:solidFill>
          <a:ln>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E11D48"/>
                </a:solidFill>
              </a:defRPr>
            </a:pPr>
            <a:r>
              <a:t>⚠️ Financial Opacity &amp; Revenue Leakage</a:t>
            </a:r>
          </a:p>
          <a:p>
            <a:pPr>
              <a:defRPr sz="1100">
                <a:solidFill>
                  <a:srgbClr val="1E293B"/>
                </a:solidFill>
              </a:defRPr>
            </a:pPr>
            <a:r>
              <a:t>Reliance on door-to-door physical cash collection causes unrecorded transactions, payment disputes, and financial losses.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Aim of the Project</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1097280" y="1645920"/>
            <a:ext cx="9966960" cy="4114800"/>
          </a:xfrm>
          <a:prstGeom prst="roundRect">
            <a:avLst/>
          </a:prstGeom>
          <a:solidFill>
            <a:srgbClr val="E8F5E9"/>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800"/>
              </a:spcAft>
              <a:defRPr sz="1600" b="1">
                <a:solidFill>
                  <a:srgbClr val="1B5E20"/>
                </a:solidFill>
              </a:defRPr>
            </a:pPr>
            <a:r>
              <a:t>🎯 PRIMARY GENERAL OBJECTIVE</a:t>
            </a:r>
          </a:p>
          <a:p>
            <a:pPr>
              <a:spcAft>
                <a:spcPts val="2000"/>
              </a:spcAft>
              <a:defRPr sz="1800" b="1">
                <a:solidFill>
                  <a:srgbClr val="1E293B"/>
                </a:solidFill>
              </a:defRPr>
            </a:pPr>
            <a:r>
              <a:t>To design, develop, and implement an integrated web-based Waste Collection Management System (WCMS) utilizing a PHP and MySQL framework to bridge the communication and operational gap between residents, administrators, and field drivers in Mogadishu.</a:t>
            </a:r>
          </a:p>
          <a:p>
            <a:pPr>
              <a:defRPr sz="1300">
                <a:solidFill>
                  <a:srgbClr val="2E7D32"/>
                </a:solidFill>
              </a:defRPr>
            </a:pPr>
            <a:r>
              <a:t>Key Expected Outcome: Transforming municipal waste management from a reactive manual process into an automated, data-driven, and transparent digital utility.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Specific Research &amp; Technical Objectives</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371600"/>
            <a:ext cx="11064240" cy="13716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1B5E20"/>
                </a:solidFill>
              </a:defRPr>
            </a:pPr>
            <a:r>
              <a:t>📌 Objective 1: Workflow Analysis</a:t>
            </a:r>
          </a:p>
          <a:p>
            <a:pPr>
              <a:defRPr sz="1100">
                <a:solidFill>
                  <a:srgbClr val="1E293B"/>
                </a:solidFill>
              </a:defRPr>
            </a:pPr>
            <a:r>
              <a:t>Analyze operational workflows and limitations of existing manual waste practices in Mogadishu, specifically focusing on dispatch challenges faced by service providers like Ifiye Waste Management Co.</a:t>
            </a:r>
          </a:p>
        </p:txBody>
      </p:sp>
      <p:sp>
        <p:nvSpPr>
          <p:cNvPr id="8" name="Rounded Rectangle 7"/>
          <p:cNvSpPr/>
          <p:nvPr/>
        </p:nvSpPr>
        <p:spPr>
          <a:xfrm>
            <a:off x="548640" y="2926080"/>
            <a:ext cx="11064240" cy="13716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1B5E20"/>
                </a:solidFill>
              </a:defRPr>
            </a:pPr>
            <a:r>
              <a:t>📌 Objective 2: Multi-Portal Design</a:t>
            </a:r>
          </a:p>
          <a:p>
            <a:pPr>
              <a:defRPr sz="1100">
                <a:solidFill>
                  <a:srgbClr val="1E293B"/>
                </a:solidFill>
              </a:defRPr>
            </a:pPr>
            <a:r>
              <a:t>Design a multi-portal system architecture establishing a seamless, real-time communication loop between residents (citizens), administrators, and field drivers to eliminate coordination gaps.</a:t>
            </a:r>
          </a:p>
        </p:txBody>
      </p:sp>
      <p:sp>
        <p:nvSpPr>
          <p:cNvPr id="9" name="Rounded Rectangle 8"/>
          <p:cNvSpPr/>
          <p:nvPr/>
        </p:nvSpPr>
        <p:spPr>
          <a:xfrm>
            <a:off x="548640" y="4480560"/>
            <a:ext cx="11064240" cy="13716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1B5E20"/>
                </a:solidFill>
              </a:defRPr>
            </a:pPr>
            <a:r>
              <a:t>📌 Objective 3: PHP/MySQL Backend Engine</a:t>
            </a:r>
          </a:p>
          <a:p>
            <a:pPr>
              <a:defRPr sz="1100">
                <a:solidFill>
                  <a:srgbClr val="1E293B"/>
                </a:solidFill>
              </a:defRPr>
            </a:pPr>
            <a:r>
              <a:t>Develop backend engine using PHP 8.x and MySQL relational database to fully automate request logs, 1-to-1 district driver auto-dispatch, task assignments, and digital payment tracking.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Research Questions</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371600"/>
            <a:ext cx="11064240" cy="1371600"/>
          </a:xfrm>
          <a:prstGeom prst="roundRect">
            <a:avLst/>
          </a:prstGeom>
          <a:solidFill>
            <a:srgbClr val="F0FDF4"/>
          </a:solidFill>
          <a:ln>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2E7D32"/>
                </a:solidFill>
              </a:defRPr>
            </a:pPr>
            <a:r>
              <a:t>❓ Research Question 1</a:t>
            </a:r>
          </a:p>
          <a:p>
            <a:pPr>
              <a:defRPr sz="1200">
                <a:solidFill>
                  <a:srgbClr val="1E293B"/>
                </a:solidFill>
              </a:defRPr>
            </a:pPr>
            <a:r>
              <a:t>How can manual waste collection workflows and truck dispatching in Mogadishu be digitized to improve operational response times and eliminate uncollected roadside waste?</a:t>
            </a:r>
          </a:p>
        </p:txBody>
      </p:sp>
      <p:sp>
        <p:nvSpPr>
          <p:cNvPr id="8" name="Rounded Rectangle 7"/>
          <p:cNvSpPr/>
          <p:nvPr/>
        </p:nvSpPr>
        <p:spPr>
          <a:xfrm>
            <a:off x="548640" y="2926080"/>
            <a:ext cx="11064240" cy="1371600"/>
          </a:xfrm>
          <a:prstGeom prst="roundRect">
            <a:avLst/>
          </a:prstGeom>
          <a:solidFill>
            <a:srgbClr val="F0FDF4"/>
          </a:solidFill>
          <a:ln>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2E7D32"/>
                </a:solidFill>
              </a:defRPr>
            </a:pPr>
            <a:r>
              <a:t>❓ Research Question 2</a:t>
            </a:r>
          </a:p>
          <a:p>
            <a:pPr>
              <a:defRPr sz="1200">
                <a:solidFill>
                  <a:srgbClr val="1E293B"/>
                </a:solidFill>
              </a:defRPr>
            </a:pPr>
            <a:r>
              <a:t>How can a multi-portal web system architecture effectively connect residents, municipal administrators, and field drivers in a synchronized real-time loop?</a:t>
            </a:r>
          </a:p>
        </p:txBody>
      </p:sp>
      <p:sp>
        <p:nvSpPr>
          <p:cNvPr id="9" name="Rounded Rectangle 8"/>
          <p:cNvSpPr/>
          <p:nvPr/>
        </p:nvSpPr>
        <p:spPr>
          <a:xfrm>
            <a:off x="548640" y="4480560"/>
            <a:ext cx="11064240" cy="1371600"/>
          </a:xfrm>
          <a:prstGeom prst="roundRect">
            <a:avLst/>
          </a:prstGeom>
          <a:solidFill>
            <a:srgbClr val="F0FDF4"/>
          </a:solidFill>
          <a:ln>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2E7D32"/>
                </a:solidFill>
              </a:defRPr>
            </a:pPr>
            <a:r>
              <a:t>❓ Research Question 3</a:t>
            </a:r>
          </a:p>
          <a:p>
            <a:pPr>
              <a:defRPr sz="1200">
                <a:solidFill>
                  <a:srgbClr val="1E293B"/>
                </a:solidFill>
              </a:defRPr>
            </a:pPr>
            <a:r>
              <a:t>How can digital payment verification (EVC Plus mobile money integration) eliminate revenue leakage and improve financial transparency for sanitation service providers?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Significance of the Study</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234440"/>
            <a:ext cx="11064240" cy="896112"/>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B5E20"/>
                </a:solidFill>
              </a:defRPr>
            </a:pPr>
            <a:r>
              <a:t>🏡 Residents (Citizens)</a:t>
            </a:r>
          </a:p>
          <a:p>
            <a:pPr>
              <a:defRPr sz="1050">
                <a:solidFill>
                  <a:srgbClr val="1E293B"/>
                </a:solidFill>
              </a:defRPr>
            </a:pPr>
            <a:r>
              <a:t>On-demand request initiation, live pickup tracking, transparent mobile receipts, and clean neighborhood environments.</a:t>
            </a:r>
          </a:p>
        </p:txBody>
      </p:sp>
      <p:sp>
        <p:nvSpPr>
          <p:cNvPr id="8" name="Rounded Rectangle 7"/>
          <p:cNvSpPr/>
          <p:nvPr/>
        </p:nvSpPr>
        <p:spPr>
          <a:xfrm>
            <a:off x="548640" y="2240280"/>
            <a:ext cx="11064240" cy="896112"/>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B5E20"/>
                </a:solidFill>
              </a:defRPr>
            </a:pPr>
            <a:r>
              <a:t>🏢 Waste Collection Companies</a:t>
            </a:r>
          </a:p>
          <a:p>
            <a:pPr>
              <a:defRPr sz="1050">
                <a:solidFill>
                  <a:srgbClr val="1E293B"/>
                </a:solidFill>
              </a:defRPr>
            </a:pPr>
            <a:r>
              <a:t>Optimized truck logistics, reduced fuel waste, zero cash revenue leakage, and automated driver dispatch.</a:t>
            </a:r>
          </a:p>
        </p:txBody>
      </p:sp>
      <p:sp>
        <p:nvSpPr>
          <p:cNvPr id="9" name="Rounded Rectangle 8"/>
          <p:cNvSpPr/>
          <p:nvPr/>
        </p:nvSpPr>
        <p:spPr>
          <a:xfrm>
            <a:off x="548640" y="3246120"/>
            <a:ext cx="11064240" cy="896112"/>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B5E20"/>
                </a:solidFill>
              </a:defRPr>
            </a:pPr>
            <a:r>
              <a:t>🚚 Field Drivers</a:t>
            </a:r>
          </a:p>
          <a:p>
            <a:pPr>
              <a:defRPr sz="1050">
                <a:solidFill>
                  <a:srgbClr val="1E293B"/>
                </a:solidFill>
              </a:defRPr>
            </a:pPr>
            <a:r>
              <a:t>Direct mobile job queue, clear district routing, emergency SOS alerts, and structured completed work logs.</a:t>
            </a:r>
          </a:p>
        </p:txBody>
      </p:sp>
      <p:sp>
        <p:nvSpPr>
          <p:cNvPr id="10" name="Rounded Rectangle 9"/>
          <p:cNvSpPr/>
          <p:nvPr/>
        </p:nvSpPr>
        <p:spPr>
          <a:xfrm>
            <a:off x="548640" y="4251960"/>
            <a:ext cx="11064240" cy="896112"/>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B5E20"/>
                </a:solidFill>
              </a:defRPr>
            </a:pPr>
            <a:r>
              <a:t>👑 Administrators</a:t>
            </a:r>
          </a:p>
          <a:p>
            <a:pPr>
              <a:defRPr sz="1050">
                <a:solidFill>
                  <a:srgbClr val="1E293B"/>
                </a:solidFill>
              </a:defRPr>
            </a:pPr>
            <a:r>
              <a:t>Centralized operational command, dynamic analytics, historical audit trails, and automated 1-to-1 district routing.</a:t>
            </a:r>
          </a:p>
        </p:txBody>
      </p:sp>
      <p:sp>
        <p:nvSpPr>
          <p:cNvPr id="11" name="Rounded Rectangle 10"/>
          <p:cNvSpPr/>
          <p:nvPr/>
        </p:nvSpPr>
        <p:spPr>
          <a:xfrm>
            <a:off x="548640" y="5257800"/>
            <a:ext cx="11064240" cy="896112"/>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B5E20"/>
                </a:solidFill>
              </a:defRPr>
            </a:pPr>
            <a:r>
              <a:t>🌱 Community &amp; Environment</a:t>
            </a:r>
          </a:p>
          <a:p>
            <a:pPr>
              <a:defRPr sz="1050">
                <a:solidFill>
                  <a:srgbClr val="1E293B"/>
                </a:solidFill>
              </a:defRPr>
            </a:pPr>
            <a:r>
              <a:t>Prevention of waterborne/airborne disease vectors (cholera, typhoid), clean urban streets, and restored city aesthetics.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Scope and Limitations</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280160"/>
            <a:ext cx="5303520" cy="4846320"/>
          </a:xfrm>
          <a:prstGeom prst="roundRect">
            <a:avLst/>
          </a:prstGeom>
          <a:solidFill>
            <a:srgbClr val="F0FDF4"/>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500" b="1">
                <a:solidFill>
                  <a:srgbClr val="1B5E20"/>
                </a:solidFill>
              </a:defRPr>
            </a:pPr>
            <a:r>
              <a:t>✅ IN SCOPE (Implemented Features)</a:t>
            </a:r>
          </a:p>
          <a:p>
            <a:pPr>
              <a:spcAft>
                <a:spcPts val="800"/>
              </a:spcAft>
              <a:defRPr sz="1100">
                <a:solidFill>
                  <a:srgbClr val="1E293B"/>
                </a:solidFill>
              </a:defRPr>
            </a:pPr>
            <a:r>
              <a:t>• 18 Mogadishu Districts Selection (`Wadajir`, `Hodan`, `Waberi`, `Deyniile`, `Karaan`, etc.).</a:t>
            </a:r>
          </a:p>
          <a:p>
            <a:pPr>
              <a:spcAft>
                <a:spcPts val="800"/>
              </a:spcAft>
              <a:defRPr sz="1100">
                <a:solidFill>
                  <a:srgbClr val="1E293B"/>
                </a:solidFill>
              </a:defRPr>
            </a:pPr>
            <a:r>
              <a:t>• Automated 1-to-1 District Driver Auto-Dispatch algorithm.</a:t>
            </a:r>
          </a:p>
          <a:p>
            <a:pPr>
              <a:spcAft>
                <a:spcPts val="800"/>
              </a:spcAft>
              <a:defRPr sz="1100">
                <a:solidFill>
                  <a:srgbClr val="1E293B"/>
                </a:solidFill>
              </a:defRPr>
            </a:pPr>
            <a:r>
              <a:t>• Simulated EVC Plus Mobile Money Payment &amp; PIN verification modal.</a:t>
            </a:r>
          </a:p>
          <a:p>
            <a:pPr>
              <a:spcAft>
                <a:spcPts val="800"/>
              </a:spcAft>
              <a:defRPr sz="1100">
                <a:solidFill>
                  <a:srgbClr val="1E293B"/>
                </a:solidFill>
              </a:defRPr>
            </a:pPr>
            <a:r>
              <a:t>• Three specialized portals: Resident, Admin Dashboard, and Driver Portal.</a:t>
            </a:r>
          </a:p>
          <a:p>
            <a:pPr>
              <a:spcAft>
                <a:spcPts val="800"/>
              </a:spcAft>
              <a:defRPr sz="1100">
                <a:solidFill>
                  <a:srgbClr val="1E293B"/>
                </a:solidFill>
              </a:defRPr>
            </a:pPr>
            <a:r>
              <a:t>• Threaded Quoted Messaging (`Re: ...`) and notification feeds.</a:t>
            </a:r>
          </a:p>
          <a:p>
            <a:pPr>
              <a:spcAft>
                <a:spcPts val="800"/>
              </a:spcAft>
              <a:defRPr sz="1100">
                <a:solidFill>
                  <a:srgbClr val="1E293B"/>
                </a:solidFill>
              </a:defRPr>
            </a:pPr>
            <a:r>
              <a:t>• Client PDF Statement generation &amp; Admin report printing.</a:t>
            </a:r>
          </a:p>
        </p:txBody>
      </p:sp>
      <p:sp>
        <p:nvSpPr>
          <p:cNvPr id="8" name="Rounded Rectangle 7"/>
          <p:cNvSpPr/>
          <p:nvPr/>
        </p:nvSpPr>
        <p:spPr>
          <a:xfrm>
            <a:off x="6217920" y="1280160"/>
            <a:ext cx="5394960" cy="4846320"/>
          </a:xfrm>
          <a:prstGeom prst="roundRect">
            <a:avLst/>
          </a:prstGeom>
          <a:solidFill>
            <a:srgbClr val="FEF2F2"/>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500" b="1">
                <a:solidFill>
                  <a:srgbClr val="E11D48"/>
                </a:solidFill>
              </a:defRPr>
            </a:pPr>
            <a:r>
              <a:t>🛑 OUT OF SCOPE (Thesis Constraints)</a:t>
            </a:r>
          </a:p>
          <a:p>
            <a:pPr>
              <a:spcAft>
                <a:spcPts val="1000"/>
              </a:spcAft>
              <a:defRPr sz="1100">
                <a:solidFill>
                  <a:srgbClr val="1E293B"/>
                </a:solidFill>
              </a:defRPr>
            </a:pPr>
            <a:r>
              <a:t>• Native App Store Packages: System operates as a mobile-responsive web application (not published on iOS/Android stores).</a:t>
            </a:r>
          </a:p>
          <a:p>
            <a:pPr>
              <a:spcAft>
                <a:spcPts val="1000"/>
              </a:spcAft>
              <a:defRPr sz="1100">
                <a:solidFill>
                  <a:srgbClr val="1E293B"/>
                </a:solidFill>
              </a:defRPr>
            </a:pPr>
            <a:r>
              <a:t>• Direct Commercial Telecom USSD Gateway: EVC Plus uses reference confirmation &amp; simulated PIN modal (due to telecom sandbox restrictions).</a:t>
            </a:r>
          </a:p>
          <a:p>
            <a:pPr>
              <a:spcAft>
                <a:spcPts val="1000"/>
              </a:spcAft>
              <a:defRPr sz="1100">
                <a:solidFill>
                  <a:srgbClr val="1E293B"/>
                </a:solidFill>
              </a:defRPr>
            </a:pPr>
            <a:r>
              <a:t>• Physical Hardware Sensors: Waste volume relies on resident plan selection rather than physical IoT load-cell weight sensors on trucks.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Literature Review &amp; Research Gap</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585216">
                <a:tc>
                  <a:txBody>
                    <a:bodyPr/>
                    <a:lstStyle/>
                    <a:p>
                      <a:pPr>
                        <a:defRPr b="1" sz="1200">
                          <a:solidFill>
                            <a:srgbClr val="FFFFFF"/>
                          </a:solidFill>
                        </a:defRPr>
                      </a:pPr>
                      <a:r>
                        <a:t>Operational Feature</a:t>
                      </a:r>
                    </a:p>
                  </a:txBody>
                  <a:tcPr>
                    <a:solidFill>
                      <a:srgbClr val="1B5E20"/>
                    </a:solidFill>
                  </a:tcPr>
                </a:tc>
                <a:tc>
                  <a:txBody>
                    <a:bodyPr/>
                    <a:lstStyle/>
                    <a:p>
                      <a:pPr>
                        <a:defRPr b="1" sz="1200">
                          <a:solidFill>
                            <a:srgbClr val="FFFFFF"/>
                          </a:solidFill>
                        </a:defRPr>
                      </a:pPr>
                      <a:r>
                        <a:t>Traditional (Manual / Offline)</a:t>
                      </a:r>
                    </a:p>
                  </a:txBody>
                  <a:tcPr>
                    <a:solidFill>
                      <a:srgbClr val="1B5E20"/>
                    </a:solidFill>
                  </a:tcPr>
                </a:tc>
                <a:tc>
                  <a:txBody>
                    <a:bodyPr/>
                    <a:lstStyle/>
                    <a:p>
                      <a:pPr>
                        <a:defRPr b="1" sz="1200">
                          <a:solidFill>
                            <a:srgbClr val="FFFFFF"/>
                          </a:solidFill>
                        </a:defRPr>
                      </a:pPr>
                      <a:r>
                        <a:t>Modern (Our SWCMS System)</a:t>
                      </a:r>
                    </a:p>
                  </a:txBody>
                  <a:tcPr>
                    <a:solidFill>
                      <a:srgbClr val="1B5E20"/>
                    </a:solidFill>
                  </a:tcPr>
                </a:tc>
              </a:tr>
              <a:tr h="585216">
                <a:tc>
                  <a:txBody>
                    <a:bodyPr/>
                    <a:lstStyle/>
                    <a:p>
                      <a:pPr>
                        <a:defRPr sz="1050">
                          <a:solidFill>
                            <a:srgbClr val="1E293B"/>
                          </a:solidFill>
                        </a:defRPr>
                      </a:pPr>
                      <a:r>
                        <a:t>Logistics &amp; Dispatch</a:t>
                      </a:r>
                    </a:p>
                  </a:txBody>
                  <a:tcPr/>
                </a:tc>
                <a:tc>
                  <a:txBody>
                    <a:bodyPr/>
                    <a:lstStyle/>
                    <a:p>
                      <a:pPr>
                        <a:defRPr sz="1050">
                          <a:solidFill>
                            <a:srgbClr val="1E293B"/>
                          </a:solidFill>
                        </a:defRPr>
                      </a:pPr>
                      <a:r>
                        <a:t>Static pre-planned routes; verbal / paper dispatch</a:t>
                      </a:r>
                    </a:p>
                  </a:txBody>
                  <a:tcPr/>
                </a:tc>
                <a:tc>
                  <a:txBody>
                    <a:bodyPr/>
                    <a:lstStyle/>
                    <a:p>
                      <a:pPr>
                        <a:defRPr sz="1050">
                          <a:solidFill>
                            <a:srgbClr val="1E293B"/>
                          </a:solidFill>
                        </a:defRPr>
                      </a:pPr>
                      <a:r>
                        <a:t>Automated 1-to-1 District Driver Auto-Dispatch</a:t>
                      </a:r>
                    </a:p>
                  </a:txBody>
                  <a:tcPr/>
                </a:tc>
              </a:tr>
              <a:tr h="585216">
                <a:tc>
                  <a:txBody>
                    <a:bodyPr/>
                    <a:lstStyle/>
                    <a:p>
                      <a:pPr>
                        <a:defRPr sz="1050">
                          <a:solidFill>
                            <a:srgbClr val="1E293B"/>
                          </a:solidFill>
                        </a:defRPr>
                      </a:pPr>
                      <a:r>
                        <a:t>Communication</a:t>
                      </a:r>
                    </a:p>
                  </a:txBody>
                  <a:tcPr/>
                </a:tc>
                <a:tc>
                  <a:txBody>
                    <a:bodyPr/>
                    <a:lstStyle/>
                    <a:p>
                      <a:pPr>
                        <a:defRPr sz="1050">
                          <a:solidFill>
                            <a:srgbClr val="1E293B"/>
                          </a:solidFill>
                        </a:defRPr>
                      </a:pPr>
                      <a:r>
                        <a:t>No direct link with citizens; roadside waiting</a:t>
                      </a:r>
                    </a:p>
                  </a:txBody>
                  <a:tcPr/>
                </a:tc>
                <a:tc>
                  <a:txBody>
                    <a:bodyPr/>
                    <a:lstStyle/>
                    <a:p>
                      <a:pPr>
                        <a:defRPr sz="1050">
                          <a:solidFill>
                            <a:srgbClr val="1E293B"/>
                          </a:solidFill>
                        </a:defRPr>
                      </a:pPr>
                      <a:r>
                        <a:t>Multi-portal synchronized loop &amp; threaded messaging</a:t>
                      </a:r>
                    </a:p>
                  </a:txBody>
                  <a:tcPr/>
                </a:tc>
              </a:tr>
              <a:tr h="585216">
                <a:tc>
                  <a:txBody>
                    <a:bodyPr/>
                    <a:lstStyle/>
                    <a:p>
                      <a:pPr>
                        <a:defRPr sz="1050">
                          <a:solidFill>
                            <a:srgbClr val="1E293B"/>
                          </a:solidFill>
                        </a:defRPr>
                      </a:pPr>
                      <a:r>
                        <a:t>Payment Verification</a:t>
                      </a:r>
                    </a:p>
                  </a:txBody>
                  <a:tcPr/>
                </a:tc>
                <a:tc>
                  <a:txBody>
                    <a:bodyPr/>
                    <a:lstStyle/>
                    <a:p>
                      <a:pPr>
                        <a:defRPr sz="1050">
                          <a:solidFill>
                            <a:srgbClr val="1E293B"/>
                          </a:solidFill>
                        </a:defRPr>
                      </a:pPr>
                      <a:r>
                        <a:t>Cash-based door-to-door, revenue leakage</a:t>
                      </a:r>
                    </a:p>
                  </a:txBody>
                  <a:tcPr/>
                </a:tc>
                <a:tc>
                  <a:txBody>
                    <a:bodyPr/>
                    <a:lstStyle/>
                    <a:p>
                      <a:pPr>
                        <a:defRPr sz="1050">
                          <a:solidFill>
                            <a:srgbClr val="1E293B"/>
                          </a:solidFill>
                        </a:defRPr>
                      </a:pPr>
                      <a:r>
                        <a:t>Simulated EVC Plus Mobile Money &amp; digital ledger</a:t>
                      </a:r>
                    </a:p>
                  </a:txBody>
                  <a:tcPr/>
                </a:tc>
              </a:tr>
              <a:tr h="585216">
                <a:tc>
                  <a:txBody>
                    <a:bodyPr/>
                    <a:lstStyle/>
                    <a:p>
                      <a:pPr>
                        <a:defRPr sz="1050">
                          <a:solidFill>
                            <a:srgbClr val="1E293B"/>
                          </a:solidFill>
                        </a:defRPr>
                      </a:pPr>
                      <a:r>
                        <a:t>Audit Trails &amp; Data</a:t>
                      </a:r>
                    </a:p>
                  </a:txBody>
                  <a:tcPr/>
                </a:tc>
                <a:tc>
                  <a:txBody>
                    <a:bodyPr/>
                    <a:lstStyle/>
                    <a:p>
                      <a:pPr>
                        <a:defRPr sz="1050">
                          <a:solidFill>
                            <a:srgbClr val="1E293B"/>
                          </a:solidFill>
                        </a:defRPr>
                      </a:pPr>
                      <a:r>
                        <a:t>No historical records or service logs</a:t>
                      </a:r>
                    </a:p>
                  </a:txBody>
                  <a:tcPr/>
                </a:tc>
                <a:tc>
                  <a:txBody>
                    <a:bodyPr/>
                    <a:lstStyle/>
                    <a:p>
                      <a:pPr>
                        <a:defRPr sz="1050">
                          <a:solidFill>
                            <a:srgbClr val="1E293B"/>
                          </a:solidFill>
                        </a:defRPr>
                      </a:pPr>
                      <a:r>
                        <a:t>Timestamped Request Logs &amp; PDF statement exports</a:t>
                      </a:r>
                    </a:p>
                  </a:txBody>
                  <a:tcPr/>
                </a:tc>
              </a:tr>
            </a:tbl>
          </a:graphicData>
        </a:graphic>
      </p:graphicFrame>
      <p:sp>
        <p:nvSpPr>
          <p:cNvPr id="8" name="Rounded Rectangle 7"/>
          <p:cNvSpPr/>
          <p:nvPr/>
        </p:nvSpPr>
        <p:spPr>
          <a:xfrm>
            <a:off x="548640" y="4389120"/>
            <a:ext cx="11064240" cy="1737360"/>
          </a:xfrm>
          <a:prstGeom prst="roundRect">
            <a:avLst/>
          </a:prstGeom>
          <a:solidFill>
            <a:srgbClr val="E8F5E9"/>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1B5E20"/>
                </a:solidFill>
              </a:defRPr>
            </a:pPr>
            <a:r>
              <a:t>💡 IDENTIFIED RESEARCH GAP IN SOMALIA</a:t>
            </a:r>
          </a:p>
          <a:p>
            <a:pPr>
              <a:defRPr sz="1100">
                <a:solidFill>
                  <a:srgbClr val="1E293B"/>
                </a:solidFill>
              </a:defRPr>
            </a:pPr>
            <a:r>
              <a:t>While international systems utilize IoT and cloud fleet platforms, local operations in Mogadishu suffer from a complete absence of a unified triple-portal ecosystem connecting citizens, administration, and field drivers simultaneously in real-time. Our project fills this critical gap.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Development Methodology: Agile Scrum Framework</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371600"/>
            <a:ext cx="3566160" cy="210312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300" b="1">
                <a:solidFill>
                  <a:srgbClr val="1B5E20"/>
                </a:solidFill>
              </a:defRPr>
            </a:pPr>
            <a:r>
              <a:t>1. Planning &amp; Backlog</a:t>
            </a:r>
          </a:p>
          <a:p>
            <a:pPr>
              <a:defRPr sz="1050">
                <a:solidFill>
                  <a:srgbClr val="1E293B"/>
                </a:solidFill>
              </a:defRPr>
            </a:pPr>
            <a:r>
              <a:t>Requirement gathering from Ifiye Co. managers &amp; resident surveys.</a:t>
            </a:r>
          </a:p>
        </p:txBody>
      </p:sp>
      <p:sp>
        <p:nvSpPr>
          <p:cNvPr id="8" name="Rounded Rectangle 7"/>
          <p:cNvSpPr/>
          <p:nvPr/>
        </p:nvSpPr>
        <p:spPr>
          <a:xfrm>
            <a:off x="4297679" y="1371600"/>
            <a:ext cx="3566160" cy="210312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300" b="1">
                <a:solidFill>
                  <a:srgbClr val="1B5E20"/>
                </a:solidFill>
              </a:defRPr>
            </a:pPr>
            <a:r>
              <a:t>2. Architecture &amp; Design</a:t>
            </a:r>
          </a:p>
          <a:p>
            <a:pPr>
              <a:defRPr sz="1050">
                <a:solidFill>
                  <a:srgbClr val="1E293B"/>
                </a:solidFill>
              </a:defRPr>
            </a:pPr>
            <a:r>
              <a:t>UML modeling, ERD database design, multi-portal wireframes.</a:t>
            </a:r>
          </a:p>
        </p:txBody>
      </p:sp>
      <p:sp>
        <p:nvSpPr>
          <p:cNvPr id="9" name="Rounded Rectangle 8"/>
          <p:cNvSpPr/>
          <p:nvPr/>
        </p:nvSpPr>
        <p:spPr>
          <a:xfrm>
            <a:off x="8046719" y="1371600"/>
            <a:ext cx="3566160" cy="210312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300" b="1">
                <a:solidFill>
                  <a:srgbClr val="1B5E20"/>
                </a:solidFill>
              </a:defRPr>
            </a:pPr>
            <a:r>
              <a:t>3. Sprint 1 (Backend &amp; DB)</a:t>
            </a:r>
          </a:p>
          <a:p>
            <a:pPr>
              <a:defRPr sz="1050">
                <a:solidFill>
                  <a:srgbClr val="1E293B"/>
                </a:solidFill>
              </a:defRPr>
            </a:pPr>
            <a:r>
              <a:t>MySQL 3NF database schema &amp; PHP 8.x REST API core engine.</a:t>
            </a:r>
          </a:p>
        </p:txBody>
      </p:sp>
      <p:sp>
        <p:nvSpPr>
          <p:cNvPr id="10" name="Rounded Rectangle 9"/>
          <p:cNvSpPr/>
          <p:nvPr/>
        </p:nvSpPr>
        <p:spPr>
          <a:xfrm>
            <a:off x="548640" y="3749039"/>
            <a:ext cx="3566160" cy="210312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300" b="1">
                <a:solidFill>
                  <a:srgbClr val="1B5E20"/>
                </a:solidFill>
              </a:defRPr>
            </a:pPr>
            <a:r>
              <a:t>4. Sprint 2 (Portals &amp; Routing)</a:t>
            </a:r>
          </a:p>
          <a:p>
            <a:pPr>
              <a:defRPr sz="1050">
                <a:solidFill>
                  <a:srgbClr val="1E293B"/>
                </a:solidFill>
              </a:defRPr>
            </a:pPr>
            <a:r>
              <a:t>Responsive HTML/CSS/JS interfaces &amp; 1-to-1 district auto-dispatch.</a:t>
            </a:r>
          </a:p>
        </p:txBody>
      </p:sp>
      <p:sp>
        <p:nvSpPr>
          <p:cNvPr id="11" name="Rounded Rectangle 10"/>
          <p:cNvSpPr/>
          <p:nvPr/>
        </p:nvSpPr>
        <p:spPr>
          <a:xfrm>
            <a:off x="4297679" y="3749039"/>
            <a:ext cx="3566160" cy="210312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300" b="1">
                <a:solidFill>
                  <a:srgbClr val="1B5E20"/>
                </a:solidFill>
              </a:defRPr>
            </a:pPr>
            <a:r>
              <a:t>5. Sprint 3 (Payment &amp; Security)</a:t>
            </a:r>
          </a:p>
          <a:p>
            <a:pPr>
              <a:defRPr sz="1050">
                <a:solidFill>
                  <a:srgbClr val="1E293B"/>
                </a:solidFill>
              </a:defRPr>
            </a:pPr>
            <a:r>
              <a:t>EVC Plus payment tracking, Bcrypt security, buffer purging.</a:t>
            </a:r>
          </a:p>
        </p:txBody>
      </p:sp>
      <p:sp>
        <p:nvSpPr>
          <p:cNvPr id="12" name="Rounded Rectangle 11"/>
          <p:cNvSpPr/>
          <p:nvPr/>
        </p:nvSpPr>
        <p:spPr>
          <a:xfrm>
            <a:off x="8046719" y="3749039"/>
            <a:ext cx="3566160" cy="210312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300" b="1">
                <a:solidFill>
                  <a:srgbClr val="1B5E20"/>
                </a:solidFill>
              </a:defRPr>
            </a:pPr>
            <a:r>
              <a:t>6. Testing &amp; Deployment</a:t>
            </a:r>
          </a:p>
          <a:p>
            <a:pPr>
              <a:defRPr sz="1050">
                <a:solidFill>
                  <a:srgbClr val="1E293B"/>
                </a:solidFill>
              </a:defRPr>
            </a:pPr>
            <a:r>
              <a:t>Unit testing, constraint validation, UAT, and final deployment.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System Functional &amp; Non-Functional Requirements</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280160"/>
            <a:ext cx="5303520" cy="4846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500" b="1">
                <a:solidFill>
                  <a:srgbClr val="1B5E20"/>
                </a:solidFill>
              </a:defRPr>
            </a:pPr>
            <a:r>
              <a:t>⚙️ FUNCTIONAL REQUIREMENTS</a:t>
            </a:r>
          </a:p>
          <a:p>
            <a:pPr>
              <a:spcAft>
                <a:spcPts val="800"/>
              </a:spcAft>
              <a:defRPr sz="1100">
                <a:solidFill>
                  <a:srgbClr val="1E293B"/>
                </a:solidFill>
              </a:defRPr>
            </a:pPr>
            <a:r>
              <a:t>• FR-1: User Registration &amp; Role Login (Bcrypt auth).</a:t>
            </a:r>
          </a:p>
          <a:p>
            <a:pPr>
              <a:spcAft>
                <a:spcPts val="800"/>
              </a:spcAft>
              <a:defRPr sz="1100">
                <a:solidFill>
                  <a:srgbClr val="1E293B"/>
                </a:solidFill>
              </a:defRPr>
            </a:pPr>
            <a:r>
              <a:t>• FR-2: Resident Pickup Scheduling (Plan selection &amp; address).</a:t>
            </a:r>
          </a:p>
          <a:p>
            <a:pPr>
              <a:spcAft>
                <a:spcPts val="800"/>
              </a:spcAft>
              <a:defRPr sz="1100">
                <a:solidFill>
                  <a:srgbClr val="1E293B"/>
                </a:solidFill>
              </a:defRPr>
            </a:pPr>
            <a:r>
              <a:t>• FR-3: Automated 1-to-1 District Driver Auto-Dispatch.</a:t>
            </a:r>
          </a:p>
          <a:p>
            <a:pPr>
              <a:spcAft>
                <a:spcPts val="800"/>
              </a:spcAft>
              <a:defRPr sz="1100">
                <a:solidFill>
                  <a:srgbClr val="1E293B"/>
                </a:solidFill>
              </a:defRPr>
            </a:pPr>
            <a:r>
              <a:t>• FR-4: Simulated EVC Plus Payment &amp; PIN verification.</a:t>
            </a:r>
          </a:p>
          <a:p>
            <a:pPr>
              <a:spcAft>
                <a:spcPts val="800"/>
              </a:spcAft>
              <a:defRPr sz="1100">
                <a:solidFill>
                  <a:srgbClr val="1E293B"/>
                </a:solidFill>
              </a:defRPr>
            </a:pPr>
            <a:r>
              <a:t>• FR-5: Driver Duty Toggle (On Duty / Off Duty) &amp; Job Queue.</a:t>
            </a:r>
          </a:p>
          <a:p>
            <a:pPr>
              <a:spcAft>
                <a:spcPts val="800"/>
              </a:spcAft>
              <a:defRPr sz="1100">
                <a:solidFill>
                  <a:srgbClr val="1E293B"/>
                </a:solidFill>
              </a:defRPr>
            </a:pPr>
            <a:r>
              <a:t>• FR-6: Threaded Quoted Messaging (`Re: ...`) &amp; PDF Statement Exports.</a:t>
            </a:r>
          </a:p>
        </p:txBody>
      </p:sp>
      <p:sp>
        <p:nvSpPr>
          <p:cNvPr id="8" name="Rounded Rectangle 7"/>
          <p:cNvSpPr/>
          <p:nvPr/>
        </p:nvSpPr>
        <p:spPr>
          <a:xfrm>
            <a:off x="6217920" y="1280160"/>
            <a:ext cx="5394960" cy="4846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500" b="1">
                <a:solidFill>
                  <a:srgbClr val="2563EB"/>
                </a:solidFill>
              </a:defRPr>
            </a:pPr>
            <a:r>
              <a:t>🛡️ NON-FUNCTIONAL REQUIREMENTS</a:t>
            </a:r>
          </a:p>
          <a:p>
            <a:pPr>
              <a:spcAft>
                <a:spcPts val="1000"/>
              </a:spcAft>
              <a:defRPr sz="1100">
                <a:solidFill>
                  <a:srgbClr val="1E293B"/>
                </a:solidFill>
              </a:defRPr>
            </a:pPr>
            <a:r>
              <a:t>• NFR-1 (Security): Passwords hashed with Bcrypt, PDO Prepared Statements, role-based authorization middleware.</a:t>
            </a:r>
          </a:p>
          <a:p>
            <a:pPr>
              <a:spcAft>
                <a:spcPts val="1000"/>
              </a:spcAft>
              <a:defRPr sz="1100">
                <a:solidFill>
                  <a:srgbClr val="1E293B"/>
                </a:solidFill>
              </a:defRPr>
            </a:pPr>
            <a:r>
              <a:t>• NFR-2 (Reliability): Output Buffer purging (`ob_start()`, `ob_clean()`) ensuring zero JSON syntax errors.</a:t>
            </a:r>
          </a:p>
          <a:p>
            <a:pPr>
              <a:spcAft>
                <a:spcPts val="1000"/>
              </a:spcAft>
              <a:defRPr sz="1100">
                <a:solidFill>
                  <a:srgbClr val="1E293B"/>
                </a:solidFill>
              </a:defRPr>
            </a:pPr>
            <a:r>
              <a:t>• NFR-3 (Usability): Responsive Bootstrap 5 interfaces optimized for desktop &amp; mobile devices.</a:t>
            </a:r>
          </a:p>
          <a:p>
            <a:pPr>
              <a:spcAft>
                <a:spcPts val="1000"/>
              </a:spcAft>
              <a:defRPr sz="1100">
                <a:solidFill>
                  <a:srgbClr val="1E293B"/>
                </a:solidFill>
              </a:defRPr>
            </a:pPr>
            <a:r>
              <a:t>• NFR-4 (Performance): Sub-second API response times and dynamic DOM updates without full page reloads.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Technology Stack &amp; Development Tools</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371600"/>
            <a:ext cx="2651760" cy="2103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300" b="1">
                <a:solidFill>
                  <a:srgbClr val="1B5E20"/>
                </a:solidFill>
              </a:defRPr>
            </a:pPr>
            <a:r>
              <a:t>PHP 8.x Backend</a:t>
            </a:r>
          </a:p>
          <a:p>
            <a:pPr>
              <a:defRPr sz="1000">
                <a:solidFill>
                  <a:srgbClr val="1E293B"/>
                </a:solidFill>
              </a:defRPr>
            </a:pPr>
            <a:r>
              <a:t>Native RESTful API endpoints handling business logic (`api/*.php`).</a:t>
            </a:r>
          </a:p>
        </p:txBody>
      </p:sp>
      <p:sp>
        <p:nvSpPr>
          <p:cNvPr id="8" name="Rounded Rectangle 7"/>
          <p:cNvSpPr/>
          <p:nvPr/>
        </p:nvSpPr>
        <p:spPr>
          <a:xfrm>
            <a:off x="3337560" y="1371600"/>
            <a:ext cx="2651760" cy="2103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300" b="1">
                <a:solidFill>
                  <a:srgbClr val="1B5E20"/>
                </a:solidFill>
              </a:defRPr>
            </a:pPr>
            <a:r>
              <a:t>MySQL 8.x Database</a:t>
            </a:r>
          </a:p>
          <a:p>
            <a:pPr>
              <a:defRPr sz="1000">
                <a:solidFill>
                  <a:srgbClr val="1E293B"/>
                </a:solidFill>
              </a:defRPr>
            </a:pPr>
            <a:r>
              <a:t>Normalized relational database (`smart_waste_db`) in 3rd Normal Form.</a:t>
            </a:r>
          </a:p>
        </p:txBody>
      </p:sp>
      <p:sp>
        <p:nvSpPr>
          <p:cNvPr id="9" name="Rounded Rectangle 8"/>
          <p:cNvSpPr/>
          <p:nvPr/>
        </p:nvSpPr>
        <p:spPr>
          <a:xfrm>
            <a:off x="6126479" y="1371600"/>
            <a:ext cx="2651760" cy="2103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300" b="1">
                <a:solidFill>
                  <a:srgbClr val="1B5E20"/>
                </a:solidFill>
              </a:defRPr>
            </a:pPr>
            <a:r>
              <a:t>HTML5 &amp; CSS3</a:t>
            </a:r>
          </a:p>
          <a:p>
            <a:pPr>
              <a:defRPr sz="1000">
                <a:solidFill>
                  <a:srgbClr val="1E293B"/>
                </a:solidFill>
              </a:defRPr>
            </a:pPr>
            <a:r>
              <a:t>Semantic structure, responsive styling, and custom dark mode themes.</a:t>
            </a:r>
          </a:p>
        </p:txBody>
      </p:sp>
      <p:sp>
        <p:nvSpPr>
          <p:cNvPr id="10" name="Rounded Rectangle 9"/>
          <p:cNvSpPr/>
          <p:nvPr/>
        </p:nvSpPr>
        <p:spPr>
          <a:xfrm>
            <a:off x="8915399" y="1371600"/>
            <a:ext cx="2651760" cy="2103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300" b="1">
                <a:solidFill>
                  <a:srgbClr val="1B5E20"/>
                </a:solidFill>
              </a:defRPr>
            </a:pPr>
            <a:r>
              <a:t>JavaScript (ES6+)</a:t>
            </a:r>
          </a:p>
          <a:p>
            <a:pPr>
              <a:defRPr sz="1000">
                <a:solidFill>
                  <a:srgbClr val="1E293B"/>
                </a:solidFill>
              </a:defRPr>
            </a:pPr>
            <a:r>
              <a:t>Dynamic DOM updates, fetch API calls, and real-time interface logic.</a:t>
            </a:r>
          </a:p>
        </p:txBody>
      </p:sp>
      <p:sp>
        <p:nvSpPr>
          <p:cNvPr id="11" name="Rounded Rectangle 10"/>
          <p:cNvSpPr/>
          <p:nvPr/>
        </p:nvSpPr>
        <p:spPr>
          <a:xfrm>
            <a:off x="548640" y="3749039"/>
            <a:ext cx="2651760" cy="2103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300" b="1">
                <a:solidFill>
                  <a:srgbClr val="1B5E20"/>
                </a:solidFill>
              </a:defRPr>
            </a:pPr>
            <a:r>
              <a:t>Bootstrap 5.3</a:t>
            </a:r>
          </a:p>
          <a:p>
            <a:pPr>
              <a:defRPr sz="1000">
                <a:solidFill>
                  <a:srgbClr val="1E293B"/>
                </a:solidFill>
              </a:defRPr>
            </a:pPr>
            <a:r>
              <a:t>Responsive grid layout, modern card components, and modal dialogues.</a:t>
            </a:r>
          </a:p>
        </p:txBody>
      </p:sp>
      <p:sp>
        <p:nvSpPr>
          <p:cNvPr id="12" name="Rounded Rectangle 11"/>
          <p:cNvSpPr/>
          <p:nvPr/>
        </p:nvSpPr>
        <p:spPr>
          <a:xfrm>
            <a:off x="3337560" y="3749039"/>
            <a:ext cx="2651760" cy="2103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300" b="1">
                <a:solidFill>
                  <a:srgbClr val="1B5E20"/>
                </a:solidFill>
              </a:defRPr>
            </a:pPr>
            <a:r>
              <a:t>Leaflet.js Mapping</a:t>
            </a:r>
          </a:p>
          <a:p>
            <a:pPr>
              <a:defRPr sz="1000">
                <a:solidFill>
                  <a:srgbClr val="1E293B"/>
                </a:solidFill>
              </a:defRPr>
            </a:pPr>
            <a:r>
              <a:t>OpenStreetMap integration for driver route navigation &amp; location pins.</a:t>
            </a:r>
          </a:p>
        </p:txBody>
      </p:sp>
      <p:sp>
        <p:nvSpPr>
          <p:cNvPr id="13" name="Rounded Rectangle 12"/>
          <p:cNvSpPr/>
          <p:nvPr/>
        </p:nvSpPr>
        <p:spPr>
          <a:xfrm>
            <a:off x="6126479" y="3749039"/>
            <a:ext cx="2651760" cy="2103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300" b="1">
                <a:solidFill>
                  <a:srgbClr val="1B5E20"/>
                </a:solidFill>
              </a:defRPr>
            </a:pPr>
            <a:r>
              <a:t>jsPDF &amp; AutoTable</a:t>
            </a:r>
          </a:p>
          <a:p>
            <a:pPr>
              <a:defRPr sz="1000">
                <a:solidFill>
                  <a:srgbClr val="1E293B"/>
                </a:solidFill>
              </a:defRPr>
            </a:pPr>
            <a:r>
              <a:t>Client-side PDF generation for receipts and billing statements.</a:t>
            </a:r>
          </a:p>
        </p:txBody>
      </p:sp>
      <p:sp>
        <p:nvSpPr>
          <p:cNvPr id="14" name="Rounded Rectangle 13"/>
          <p:cNvSpPr/>
          <p:nvPr/>
        </p:nvSpPr>
        <p:spPr>
          <a:xfrm>
            <a:off x="8915399" y="3749039"/>
            <a:ext cx="2651760" cy="21031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300" b="1">
                <a:solidFill>
                  <a:srgbClr val="1B5E20"/>
                </a:solidFill>
              </a:defRPr>
            </a:pPr>
            <a:r>
              <a:t>XAMPP &amp; Apache</a:t>
            </a:r>
          </a:p>
          <a:p>
            <a:pPr>
              <a:defRPr sz="1000">
                <a:solidFill>
                  <a:srgbClr val="1E293B"/>
                </a:solidFill>
              </a:defRPr>
            </a:pPr>
            <a:r>
              <a:t>Local web server environment for PHP execution and MySQL testing.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3-Tier System Architecture Design</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371600"/>
            <a:ext cx="11064240" cy="137160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1B5E20"/>
                </a:solidFill>
              </a:defRPr>
            </a:pPr>
            <a:r>
              <a:t>1. Presentation Layer (Frontend)</a:t>
            </a:r>
          </a:p>
          <a:p>
            <a:pPr>
              <a:defRPr sz="1100">
                <a:solidFill>
                  <a:srgbClr val="1E293B"/>
                </a:solidFill>
              </a:defRPr>
            </a:pPr>
            <a:r>
              <a:t>Responsive Web Portals built with HTML5, CSS3, Bootstrap 5.3, and ES6+ JS. Includes Chart.js for analytics, Leaflet.js for interactive route maps, and jsPDF for client-side invoice rendering.</a:t>
            </a:r>
          </a:p>
        </p:txBody>
      </p:sp>
      <p:sp>
        <p:nvSpPr>
          <p:cNvPr id="8" name="Rounded Rectangle 7"/>
          <p:cNvSpPr/>
          <p:nvPr/>
        </p:nvSpPr>
        <p:spPr>
          <a:xfrm>
            <a:off x="548640" y="2926080"/>
            <a:ext cx="11064240" cy="137160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1B5E20"/>
                </a:solidFill>
              </a:defRPr>
            </a:pPr>
            <a:r>
              <a:t>2. Application Layer (PHP REST Backend)</a:t>
            </a:r>
          </a:p>
          <a:p>
            <a:pPr>
              <a:defRPr sz="1100">
                <a:solidFill>
                  <a:srgbClr val="1E293B"/>
                </a:solidFill>
              </a:defRPr>
            </a:pPr>
            <a:r>
              <a:t>PHP 8.x RESTful APIs (`api/admin.php`, `api/resident.php`, `api/driver.php`, `api/auth.php`). Handles authentication, 1-to-1 district auto-dispatch, threaded messaging, and buffer output purging (`ob_clean()`).</a:t>
            </a:r>
          </a:p>
        </p:txBody>
      </p:sp>
      <p:sp>
        <p:nvSpPr>
          <p:cNvPr id="9" name="Rounded Rectangle 8"/>
          <p:cNvSpPr/>
          <p:nvPr/>
        </p:nvSpPr>
        <p:spPr>
          <a:xfrm>
            <a:off x="548640" y="4480560"/>
            <a:ext cx="11064240" cy="137160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1B5E20"/>
                </a:solidFill>
              </a:defRPr>
            </a:pPr>
            <a:r>
              <a:t>3. Database Layer (MySQL Storage)</a:t>
            </a:r>
          </a:p>
          <a:p>
            <a:pPr>
              <a:defRPr sz="1100">
                <a:solidFill>
                  <a:srgbClr val="1E293B"/>
                </a:solidFill>
              </a:defRPr>
            </a:pPr>
            <a:r>
              <a:t>MySQL 8.x relational database (`smart_waste_db`). Stores normalized records for users, drivers, residents, pickup requests, payments, activity logs, and notifications with foreign key constraints.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Core System Portals &amp; Modules</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280160"/>
            <a:ext cx="3566160" cy="484632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400" b="1">
                <a:solidFill>
                  <a:srgbClr val="1B5E20"/>
                </a:solidFill>
              </a:defRPr>
            </a:pPr>
            <a:r>
              <a:t>🏡 RESIDENT PORTAL</a:t>
            </a:r>
          </a:p>
          <a:p>
            <a:pPr>
              <a:spcAft>
                <a:spcPts val="800"/>
              </a:spcAft>
              <a:defRPr sz="1100">
                <a:solidFill>
                  <a:srgbClr val="1E293B"/>
                </a:solidFill>
              </a:defRPr>
            </a:pPr>
            <a:r>
              <a:t>• Account Registration &amp; Login</a:t>
            </a:r>
          </a:p>
          <a:p>
            <a:pPr>
              <a:spcAft>
                <a:spcPts val="800"/>
              </a:spcAft>
              <a:defRPr sz="1100">
                <a:solidFill>
                  <a:srgbClr val="1E293B"/>
                </a:solidFill>
              </a:defRPr>
            </a:pPr>
            <a:r>
              <a:t>• Schedule Waste Pickup ($5/$15/$45)</a:t>
            </a:r>
          </a:p>
          <a:p>
            <a:pPr>
              <a:spcAft>
                <a:spcPts val="800"/>
              </a:spcAft>
              <a:defRPr sz="1100">
                <a:solidFill>
                  <a:srgbClr val="1E293B"/>
                </a:solidFill>
              </a:defRPr>
            </a:pPr>
            <a:r>
              <a:t>• EVC Plus Mobile Payment &amp; PIN</a:t>
            </a:r>
          </a:p>
          <a:p>
            <a:pPr>
              <a:spcAft>
                <a:spcPts val="800"/>
              </a:spcAft>
              <a:defRPr sz="1100">
                <a:solidFill>
                  <a:srgbClr val="1E293B"/>
                </a:solidFill>
              </a:defRPr>
            </a:pPr>
            <a:r>
              <a:t>• Live Request Status &amp; Timeline Logs</a:t>
            </a:r>
          </a:p>
          <a:p>
            <a:pPr>
              <a:spcAft>
                <a:spcPts val="800"/>
              </a:spcAft>
              <a:defRPr sz="1100">
                <a:solidFill>
                  <a:srgbClr val="1E293B"/>
                </a:solidFill>
              </a:defRPr>
            </a:pPr>
            <a:r>
              <a:t>• Download Personal Statement (PDF)</a:t>
            </a:r>
          </a:p>
        </p:txBody>
      </p:sp>
      <p:sp>
        <p:nvSpPr>
          <p:cNvPr id="8" name="Rounded Rectangle 7"/>
          <p:cNvSpPr/>
          <p:nvPr/>
        </p:nvSpPr>
        <p:spPr>
          <a:xfrm>
            <a:off x="4297679" y="1280160"/>
            <a:ext cx="3566160" cy="484632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400" b="1">
                <a:solidFill>
                  <a:srgbClr val="1B5E20"/>
                </a:solidFill>
              </a:defRPr>
            </a:pPr>
            <a:r>
              <a:t>👑 ADMIN DASHBOARD</a:t>
            </a:r>
          </a:p>
          <a:p>
            <a:pPr>
              <a:spcAft>
                <a:spcPts val="800"/>
              </a:spcAft>
              <a:defRPr sz="1100">
                <a:solidFill>
                  <a:srgbClr val="1E293B"/>
                </a:solidFill>
              </a:defRPr>
            </a:pPr>
            <a:r>
              <a:t>• System Overview &amp; Analytics Charts</a:t>
            </a:r>
          </a:p>
          <a:p>
            <a:pPr>
              <a:spcAft>
                <a:spcPts val="800"/>
              </a:spcAft>
              <a:defRPr sz="1100">
                <a:solidFill>
                  <a:srgbClr val="1E293B"/>
                </a:solidFill>
              </a:defRPr>
            </a:pPr>
            <a:r>
              <a:t>• Manage Requests &amp; Payment Status</a:t>
            </a:r>
          </a:p>
          <a:p>
            <a:pPr>
              <a:spcAft>
                <a:spcPts val="800"/>
              </a:spcAft>
              <a:defRPr sz="1100">
                <a:solidFill>
                  <a:srgbClr val="1E293B"/>
                </a:solidFill>
              </a:defRPr>
            </a:pPr>
            <a:r>
              <a:t>• Driver Onboarding &amp; District Allocation</a:t>
            </a:r>
          </a:p>
          <a:p>
            <a:pPr>
              <a:spcAft>
                <a:spcPts val="800"/>
              </a:spcAft>
              <a:defRPr sz="1100">
                <a:solidFill>
                  <a:srgbClr val="1E293B"/>
                </a:solidFill>
              </a:defRPr>
            </a:pPr>
            <a:r>
              <a:t>• Automated 1-to-1 District Auto-Dispatch</a:t>
            </a:r>
          </a:p>
          <a:p>
            <a:pPr>
              <a:spcAft>
                <a:spcPts val="800"/>
              </a:spcAft>
              <a:defRPr sz="1100">
                <a:solidFill>
                  <a:srgbClr val="1E293B"/>
                </a:solidFill>
              </a:defRPr>
            </a:pPr>
            <a:r>
              <a:t>• Support Messaging &amp; Audit Reports</a:t>
            </a:r>
          </a:p>
        </p:txBody>
      </p:sp>
      <p:sp>
        <p:nvSpPr>
          <p:cNvPr id="9" name="Rounded Rectangle 8"/>
          <p:cNvSpPr/>
          <p:nvPr/>
        </p:nvSpPr>
        <p:spPr>
          <a:xfrm>
            <a:off x="8046719" y="1280160"/>
            <a:ext cx="3566160" cy="484632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400" b="1">
                <a:solidFill>
                  <a:srgbClr val="1B5E20"/>
                </a:solidFill>
              </a:defRPr>
            </a:pPr>
            <a:r>
              <a:t>🚚 DRIVER PORTAL</a:t>
            </a:r>
          </a:p>
          <a:p>
            <a:pPr>
              <a:spcAft>
                <a:spcPts val="800"/>
              </a:spcAft>
              <a:defRPr sz="1100">
                <a:solidFill>
                  <a:srgbClr val="1E293B"/>
                </a:solidFill>
              </a:defRPr>
            </a:pPr>
            <a:r>
              <a:t>• Duty Status Toggle (On Duty/Off Duty)</a:t>
            </a:r>
          </a:p>
          <a:p>
            <a:pPr>
              <a:spcAft>
                <a:spcPts val="800"/>
              </a:spcAft>
              <a:defRPr sz="1100">
                <a:solidFill>
                  <a:srgbClr val="1E293B"/>
                </a:solidFill>
              </a:defRPr>
            </a:pPr>
            <a:r>
              <a:t>• Active District Pickup Job Cards</a:t>
            </a:r>
          </a:p>
          <a:p>
            <a:pPr>
              <a:spcAft>
                <a:spcPts val="800"/>
              </a:spcAft>
              <a:defRPr sz="1100">
                <a:solidFill>
                  <a:srgbClr val="1E293B"/>
                </a:solidFill>
              </a:defRPr>
            </a:pPr>
            <a:r>
              <a:t>• Interactive Route Map &amp; Street Directions</a:t>
            </a:r>
          </a:p>
          <a:p>
            <a:pPr>
              <a:spcAft>
                <a:spcPts val="800"/>
              </a:spcAft>
              <a:defRPr sz="1100">
                <a:solidFill>
                  <a:srgbClr val="1E293B"/>
                </a:solidFill>
              </a:defRPr>
            </a:pPr>
            <a:r>
              <a:t>• Job Status Updates (Accepted -&gt; Done)</a:t>
            </a:r>
          </a:p>
          <a:p>
            <a:pPr>
              <a:spcAft>
                <a:spcPts val="800"/>
              </a:spcAft>
              <a:defRPr sz="1100">
                <a:solidFill>
                  <a:srgbClr val="1E293B"/>
                </a:solidFill>
              </a:defRPr>
            </a:pPr>
            <a:r>
              <a:t>• One-Tap Emergency SOS Trigger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Use Case Diagram &amp; System Actors</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371600"/>
            <a:ext cx="11064240" cy="13716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1B5E20"/>
                </a:solidFill>
              </a:defRPr>
            </a:pPr>
            <a:r>
              <a:t>👤 Resident Actor</a:t>
            </a:r>
          </a:p>
          <a:p>
            <a:pPr>
              <a:defRPr sz="1100">
                <a:solidFill>
                  <a:srgbClr val="1E293B"/>
                </a:solidFill>
              </a:defRPr>
            </a:pPr>
            <a:r>
              <a:t>Registers account, selects district, submits pickup request, enters EVC PIN for payment, tracks request lifecycle, views statement PDF, sends support inquiries.</a:t>
            </a:r>
          </a:p>
        </p:txBody>
      </p:sp>
      <p:sp>
        <p:nvSpPr>
          <p:cNvPr id="8" name="Rounded Rectangle 7"/>
          <p:cNvSpPr/>
          <p:nvPr/>
        </p:nvSpPr>
        <p:spPr>
          <a:xfrm>
            <a:off x="548640" y="2926080"/>
            <a:ext cx="11064240" cy="13716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1B5E20"/>
                </a:solidFill>
              </a:defRPr>
            </a:pPr>
            <a:r>
              <a:t>👨‍💼 Admin Actor</a:t>
            </a:r>
          </a:p>
          <a:p>
            <a:pPr>
              <a:defRPr sz="1100">
                <a:solidFill>
                  <a:srgbClr val="1E293B"/>
                </a:solidFill>
              </a:defRPr>
            </a:pPr>
            <a:r>
              <a:t>Logs in, monitors dashboard analytics, registers new drivers, sets 1-to-1 district binding, reviews payments, replies to user reports with quoted context, exports system logs.</a:t>
            </a:r>
          </a:p>
        </p:txBody>
      </p:sp>
      <p:sp>
        <p:nvSpPr>
          <p:cNvPr id="9" name="Rounded Rectangle 8"/>
          <p:cNvSpPr/>
          <p:nvPr/>
        </p:nvSpPr>
        <p:spPr>
          <a:xfrm>
            <a:off x="548640" y="4480560"/>
            <a:ext cx="11064240" cy="13716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1B5E20"/>
                </a:solidFill>
              </a:defRPr>
            </a:pPr>
            <a:r>
              <a:t>🚚 Driver Actor</a:t>
            </a:r>
          </a:p>
          <a:p>
            <a:pPr>
              <a:defRPr sz="1100">
                <a:solidFill>
                  <a:srgbClr val="1E293B"/>
                </a:solidFill>
              </a:defRPr>
            </a:pPr>
            <a:r>
              <a:t>Logs in, toggles duty status (On Duty / On Break / Off Duty), views assigned district jobs, accepts job, launches map navigation, updates job status to Completed, triggers emergency SOS.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Entity-Relationship Diagram (Relational Database Schema)</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280160"/>
            <a:ext cx="5394960" cy="146304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1B5E20"/>
                </a:solidFill>
              </a:defRPr>
            </a:pPr>
            <a:r>
              <a:t>🗄️ Table: users</a:t>
            </a:r>
          </a:p>
          <a:p>
            <a:pPr>
              <a:defRPr sz="1000">
                <a:solidFill>
                  <a:srgbClr val="1E293B"/>
                </a:solidFill>
              </a:defRPr>
            </a:pPr>
            <a:r>
              <a:t>Fields: user_id (PK), name, email, password (Bcrypt), phone, role ('admin','resident','driver'), created_at</a:t>
            </a:r>
          </a:p>
        </p:txBody>
      </p:sp>
      <p:sp>
        <p:nvSpPr>
          <p:cNvPr id="8" name="Rounded Rectangle 7"/>
          <p:cNvSpPr/>
          <p:nvPr/>
        </p:nvSpPr>
        <p:spPr>
          <a:xfrm>
            <a:off x="6126479" y="1280160"/>
            <a:ext cx="5394960" cy="146304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1B5E20"/>
                </a:solidFill>
              </a:defRPr>
            </a:pPr>
            <a:r>
              <a:t>🗄️ Table: residents</a:t>
            </a:r>
          </a:p>
          <a:p>
            <a:pPr>
              <a:defRPr sz="1000">
                <a:solidFill>
                  <a:srgbClr val="1E293B"/>
                </a:solidFill>
              </a:defRPr>
            </a:pPr>
            <a:r>
              <a:t>Fields: id (PK), user_id (FK), address, district, phone, subscription_plan, profile_picture</a:t>
            </a:r>
          </a:p>
        </p:txBody>
      </p:sp>
      <p:sp>
        <p:nvSpPr>
          <p:cNvPr id="9" name="Rounded Rectangle 8"/>
          <p:cNvSpPr/>
          <p:nvPr/>
        </p:nvSpPr>
        <p:spPr>
          <a:xfrm>
            <a:off x="548640" y="2926080"/>
            <a:ext cx="5394960" cy="146304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1B5E20"/>
                </a:solidFill>
              </a:defRPr>
            </a:pPr>
            <a:r>
              <a:t>🗄️ Table: drivers</a:t>
            </a:r>
          </a:p>
          <a:p>
            <a:pPr>
              <a:defRPr sz="1000">
                <a:solidFill>
                  <a:srgbClr val="1E293B"/>
                </a:solidFill>
              </a:defRPr>
            </a:pPr>
            <a:r>
              <a:t>Fields: driver_id (PK), user_id (FK), license_no, truck_plate, assigned_district, duty_status ('On Duty','Off Duty')</a:t>
            </a:r>
          </a:p>
        </p:txBody>
      </p:sp>
      <p:sp>
        <p:nvSpPr>
          <p:cNvPr id="10" name="Rounded Rectangle 9"/>
          <p:cNvSpPr/>
          <p:nvPr/>
        </p:nvSpPr>
        <p:spPr>
          <a:xfrm>
            <a:off x="6126479" y="2926080"/>
            <a:ext cx="5394960" cy="146304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1B5E20"/>
                </a:solidFill>
              </a:defRPr>
            </a:pPr>
            <a:r>
              <a:t>🗄️ Table: requests</a:t>
            </a:r>
          </a:p>
          <a:p>
            <a:pPr>
              <a:defRPr sz="1000">
                <a:solidFill>
                  <a:srgbClr val="1E293B"/>
                </a:solidFill>
              </a:defRPr>
            </a:pPr>
            <a:r>
              <a:t>Fields: request_id (PK), resident_id (FK), driver_id (FK), status ('Pending','Assigned','Accepted','In Progress','Completed'), plan, amount, waste_type, request_time</a:t>
            </a:r>
          </a:p>
        </p:txBody>
      </p:sp>
      <p:sp>
        <p:nvSpPr>
          <p:cNvPr id="11" name="Rounded Rectangle 10"/>
          <p:cNvSpPr/>
          <p:nvPr/>
        </p:nvSpPr>
        <p:spPr>
          <a:xfrm>
            <a:off x="548640" y="4572000"/>
            <a:ext cx="5394960" cy="146304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1B5E20"/>
                </a:solidFill>
              </a:defRPr>
            </a:pPr>
            <a:r>
              <a:t>🗄️ Table: payments</a:t>
            </a:r>
          </a:p>
          <a:p>
            <a:pPr>
              <a:defRPr sz="1000">
                <a:solidFill>
                  <a:srgbClr val="1E293B"/>
                </a:solidFill>
              </a:defRPr>
            </a:pPr>
            <a:r>
              <a:t>Fields: payment_id (PK), request_id (FK), resident_id (FK), amount, method ('Mobile Money','Credit Card'), status ('Paid','Completed'), paid_at</a:t>
            </a:r>
          </a:p>
        </p:txBody>
      </p:sp>
      <p:sp>
        <p:nvSpPr>
          <p:cNvPr id="12" name="Rounded Rectangle 11"/>
          <p:cNvSpPr/>
          <p:nvPr/>
        </p:nvSpPr>
        <p:spPr>
          <a:xfrm>
            <a:off x="6126479" y="4572000"/>
            <a:ext cx="5394960" cy="146304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300" b="1">
                <a:solidFill>
                  <a:srgbClr val="1B5E20"/>
                </a:solidFill>
              </a:defRPr>
            </a:pPr>
            <a:r>
              <a:t>🗄️ Table: notifications</a:t>
            </a:r>
          </a:p>
          <a:p>
            <a:pPr>
              <a:defRPr sz="1000">
                <a:solidFill>
                  <a:srgbClr val="1E293B"/>
                </a:solidFill>
              </a:defRPr>
            </a:pPr>
            <a:r>
              <a:t>Fields: id (PK), user_id (FK), title, message, is_read, created_at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Resident Portal Implementation (Live System Screenshots)</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280160"/>
            <a:ext cx="5029200" cy="4846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500" b="1">
                <a:solidFill>
                  <a:srgbClr val="1B5E20"/>
                </a:solidFill>
              </a:defRPr>
            </a:pPr>
            <a:r>
              <a:t>Resident Portal Implementation</a:t>
            </a:r>
          </a:p>
          <a:p>
            <a:pPr>
              <a:spcAft>
                <a:spcPts val="1000"/>
              </a:spcAft>
              <a:defRPr sz="1100">
                <a:solidFill>
                  <a:srgbClr val="1E293B"/>
                </a:solidFill>
              </a:defRPr>
            </a:pPr>
            <a:r>
              <a:t>• 18 Mogadishu Districts Registration: Captures home district, address, and contact details.</a:t>
            </a:r>
          </a:p>
          <a:p>
            <a:pPr>
              <a:spcAft>
                <a:spcPts val="1000"/>
              </a:spcAft>
              <a:defRPr sz="1100">
                <a:solidFill>
                  <a:srgbClr val="1E293B"/>
                </a:solidFill>
              </a:defRPr>
            </a:pPr>
            <a:r>
              <a:t>• Schedule Pickup Modal: Allows selection of service plan ($5 Pay Per Pickup, $15 Monthly, $45 Commercial).</a:t>
            </a:r>
          </a:p>
          <a:p>
            <a:pPr>
              <a:spcAft>
                <a:spcPts val="1000"/>
              </a:spcAft>
              <a:defRPr sz="1100">
                <a:solidFill>
                  <a:srgbClr val="1E293B"/>
                </a:solidFill>
              </a:defRPr>
            </a:pPr>
            <a:r>
              <a:t>• EVC Plus Mobile Payment: Prompts USSD PIN confirmation and logs payment reference.</a:t>
            </a:r>
          </a:p>
          <a:p>
            <a:pPr>
              <a:spcAft>
                <a:spcPts val="1000"/>
              </a:spcAft>
              <a:defRPr sz="1100">
                <a:solidFill>
                  <a:srgbClr val="1E293B"/>
                </a:solidFill>
              </a:defRPr>
            </a:pPr>
            <a:r>
              <a:t>• Request Timeline Feed: Real-time status logs displaying driver assignment and pickup progress.</a:t>
            </a:r>
          </a:p>
        </p:txBody>
      </p:sp>
      <p:pic>
        <p:nvPicPr>
          <p:cNvPr id="8" name="Picture 7" descr="resident_dashboard_mockup_1789150175298.jpg"/>
          <p:cNvPicPr>
            <a:picLocks noChangeAspect="1"/>
          </p:cNvPicPr>
          <p:nvPr/>
        </p:nvPicPr>
        <p:blipFill>
          <a:blip r:embed="rId2"/>
          <a:stretch>
            <a:fillRect/>
          </a:stretch>
        </p:blipFill>
        <p:spPr>
          <a:xfrm>
            <a:off x="5852160" y="1280160"/>
            <a:ext cx="5760720" cy="321528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Admin Control Dashboard (Live System Screenshots)</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pic>
        <p:nvPicPr>
          <p:cNvPr id="7" name="Picture 6" descr="admin_dashboard_mockup_1789150143724.jpg"/>
          <p:cNvPicPr>
            <a:picLocks noChangeAspect="1"/>
          </p:cNvPicPr>
          <p:nvPr/>
        </p:nvPicPr>
        <p:blipFill>
          <a:blip r:embed="rId2"/>
          <a:stretch>
            <a:fillRect/>
          </a:stretch>
        </p:blipFill>
        <p:spPr>
          <a:xfrm>
            <a:off x="548640" y="1280160"/>
            <a:ext cx="5760720" cy="3215286"/>
          </a:xfrm>
          <a:prstGeom prst="rect">
            <a:avLst/>
          </a:prstGeom>
        </p:spPr>
      </p:pic>
      <p:sp>
        <p:nvSpPr>
          <p:cNvPr id="8" name="Rounded Rectangle 7"/>
          <p:cNvSpPr/>
          <p:nvPr/>
        </p:nvSpPr>
        <p:spPr>
          <a:xfrm>
            <a:off x="6583680" y="1280160"/>
            <a:ext cx="5029200" cy="4846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500" b="1">
                <a:solidFill>
                  <a:srgbClr val="1B5E20"/>
                </a:solidFill>
              </a:defRPr>
            </a:pPr>
            <a:r>
              <a:t>Admin Management Capabilities</a:t>
            </a:r>
          </a:p>
          <a:p>
            <a:pPr>
              <a:spcAft>
                <a:spcPts val="1000"/>
              </a:spcAft>
              <a:defRPr sz="1100">
                <a:solidFill>
                  <a:srgbClr val="1E293B"/>
                </a:solidFill>
              </a:defRPr>
            </a:pPr>
            <a:r>
              <a:t>• Real-Time Metrics Panel: Displays total waste requests, completed pickups, active drivers, and total revenue ($65.00).</a:t>
            </a:r>
          </a:p>
          <a:p>
            <a:pPr>
              <a:spcAft>
                <a:spcPts val="1000"/>
              </a:spcAft>
              <a:defRPr sz="1100">
                <a:solidFill>
                  <a:srgbClr val="1E293B"/>
                </a:solidFill>
              </a:defRPr>
            </a:pPr>
            <a:r>
              <a:t>• Driver Onboarding: Registers drivers with unique license numbers, truck plates, and allocates 1-to-1 district binding.</a:t>
            </a:r>
          </a:p>
          <a:p>
            <a:pPr>
              <a:spcAft>
                <a:spcPts val="1000"/>
              </a:spcAft>
              <a:defRPr sz="1100">
                <a:solidFill>
                  <a:srgbClr val="1E293B"/>
                </a:solidFill>
              </a:defRPr>
            </a:pPr>
            <a:r>
              <a:t>• Request Supervision: Views live request tables, payment statuses, and manual driver reassignment controls.</a:t>
            </a:r>
          </a:p>
          <a:p>
            <a:pPr>
              <a:spcAft>
                <a:spcPts val="1000"/>
              </a:spcAft>
              <a:defRPr sz="1100">
                <a:solidFill>
                  <a:srgbClr val="1E293B"/>
                </a:solidFill>
              </a:defRPr>
            </a:pPr>
            <a:r>
              <a:t>• Threaded Messaging: Replies to user reports with embedded quote cards (`Re: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Driver Portal Implementation (Live System Screenshots)</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280160"/>
            <a:ext cx="5029200" cy="4846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500" b="1">
                <a:solidFill>
                  <a:srgbClr val="1B5E20"/>
                </a:solidFill>
              </a:defRPr>
            </a:pPr>
            <a:r>
              <a:t>Driver Field Operations</a:t>
            </a:r>
          </a:p>
          <a:p>
            <a:pPr>
              <a:spcAft>
                <a:spcPts val="1000"/>
              </a:spcAft>
              <a:defRPr sz="1100">
                <a:solidFill>
                  <a:srgbClr val="1E293B"/>
                </a:solidFill>
              </a:defRPr>
            </a:pPr>
            <a:r>
              <a:t>• Duty Status Toggle: Drivers set status to 'On Duty', 'On Break', or 'Off Duty'.</a:t>
            </a:r>
          </a:p>
          <a:p>
            <a:pPr>
              <a:spcAft>
                <a:spcPts val="1000"/>
              </a:spcAft>
              <a:defRPr sz="1100">
                <a:solidFill>
                  <a:srgbClr val="1E293B"/>
                </a:solidFill>
              </a:defRPr>
            </a:pPr>
            <a:r>
              <a:t>• Active Job Queue: Displays assigned district job cards with resident name, street address, and waste type.</a:t>
            </a:r>
          </a:p>
          <a:p>
            <a:pPr>
              <a:spcAft>
                <a:spcPts val="1000"/>
              </a:spcAft>
              <a:defRPr sz="1100">
                <a:solidFill>
                  <a:srgbClr val="1E293B"/>
                </a:solidFill>
              </a:defRPr>
            </a:pPr>
            <a:r>
              <a:t>• Job Lifecycle Execution: Buttons to 'Accept Job', 'Start Trip' (In Progress), and 'Complete Collection'.</a:t>
            </a:r>
          </a:p>
          <a:p>
            <a:pPr>
              <a:spcAft>
                <a:spcPts val="1000"/>
              </a:spcAft>
              <a:defRPr sz="1100">
                <a:solidFill>
                  <a:srgbClr val="1E293B"/>
                </a:solidFill>
              </a:defRPr>
            </a:pPr>
            <a:r>
              <a:t>• Work History Log: Keeps sequential records of completed collection jobs (#1, #2, etc.).</a:t>
            </a:r>
          </a:p>
        </p:txBody>
      </p:sp>
      <p:pic>
        <p:nvPicPr>
          <p:cNvPr id="8" name="Picture 7" descr="driver_dashboard_mockup_1789150216956.jpg"/>
          <p:cNvPicPr>
            <a:picLocks noChangeAspect="1"/>
          </p:cNvPicPr>
          <p:nvPr/>
        </p:nvPicPr>
        <p:blipFill>
          <a:blip r:embed="rId2"/>
          <a:stretch>
            <a:fillRect/>
          </a:stretch>
        </p:blipFill>
        <p:spPr>
          <a:xfrm>
            <a:off x="5852160" y="1280160"/>
            <a:ext cx="5760720" cy="321528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End-to-End System Workflow Diagram</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371600"/>
            <a:ext cx="3566160" cy="2103120"/>
          </a:xfrm>
          <a:prstGeom prst="roundRect">
            <a:avLst/>
          </a:prstGeom>
          <a:solidFill>
            <a:srgbClr val="F0FDF4"/>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300" b="1">
                <a:solidFill>
                  <a:srgbClr val="1B5E20"/>
                </a:solidFill>
              </a:defRPr>
            </a:pPr>
            <a:r>
              <a:t>1. Request &amp; Pay</a:t>
            </a:r>
          </a:p>
          <a:p>
            <a:pPr>
              <a:defRPr sz="1050">
                <a:solidFill>
                  <a:srgbClr val="1E293B"/>
                </a:solidFill>
              </a:defRPr>
            </a:pPr>
            <a:r>
              <a:t>Resident submits pickup request &amp; settles $5 fee via EVC Plus PIN.</a:t>
            </a:r>
          </a:p>
        </p:txBody>
      </p:sp>
      <p:sp>
        <p:nvSpPr>
          <p:cNvPr id="8" name="Rounded Rectangle 7"/>
          <p:cNvSpPr/>
          <p:nvPr/>
        </p:nvSpPr>
        <p:spPr>
          <a:xfrm>
            <a:off x="4297679" y="1371600"/>
            <a:ext cx="3566160" cy="2103120"/>
          </a:xfrm>
          <a:prstGeom prst="roundRect">
            <a:avLst/>
          </a:prstGeom>
          <a:solidFill>
            <a:srgbClr val="F0FDF4"/>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300" b="1">
                <a:solidFill>
                  <a:srgbClr val="1B5E20"/>
                </a:solidFill>
              </a:defRPr>
            </a:pPr>
            <a:r>
              <a:t>2. Auto-Dispatch</a:t>
            </a:r>
          </a:p>
          <a:p>
            <a:pPr>
              <a:defRPr sz="1050">
                <a:solidFill>
                  <a:srgbClr val="1E293B"/>
                </a:solidFill>
              </a:defRPr>
            </a:pPr>
            <a:r>
              <a:t>Backend auto-assigns request to dedicated district truck driver.</a:t>
            </a:r>
          </a:p>
        </p:txBody>
      </p:sp>
      <p:sp>
        <p:nvSpPr>
          <p:cNvPr id="9" name="Rounded Rectangle 8"/>
          <p:cNvSpPr/>
          <p:nvPr/>
        </p:nvSpPr>
        <p:spPr>
          <a:xfrm>
            <a:off x="8046719" y="1371600"/>
            <a:ext cx="3566160" cy="2103120"/>
          </a:xfrm>
          <a:prstGeom prst="roundRect">
            <a:avLst/>
          </a:prstGeom>
          <a:solidFill>
            <a:srgbClr val="F0FDF4"/>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300" b="1">
                <a:solidFill>
                  <a:srgbClr val="1B5E20"/>
                </a:solidFill>
              </a:defRPr>
            </a:pPr>
            <a:r>
              <a:t>3. Admin Audit</a:t>
            </a:r>
          </a:p>
          <a:p>
            <a:pPr>
              <a:defRPr sz="1050">
                <a:solidFill>
                  <a:srgbClr val="1E293B"/>
                </a:solidFill>
              </a:defRPr>
            </a:pPr>
            <a:r>
              <a:t>Request appears on Admin Dashboard in 'Assigned' status.</a:t>
            </a:r>
          </a:p>
        </p:txBody>
      </p:sp>
      <p:sp>
        <p:nvSpPr>
          <p:cNvPr id="10" name="Rounded Rectangle 9"/>
          <p:cNvSpPr/>
          <p:nvPr/>
        </p:nvSpPr>
        <p:spPr>
          <a:xfrm>
            <a:off x="548640" y="3749039"/>
            <a:ext cx="3566160" cy="2103120"/>
          </a:xfrm>
          <a:prstGeom prst="roundRect">
            <a:avLst/>
          </a:prstGeom>
          <a:solidFill>
            <a:srgbClr val="F0FDF4"/>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300" b="1">
                <a:solidFill>
                  <a:srgbClr val="1B5E20"/>
                </a:solidFill>
              </a:defRPr>
            </a:pPr>
            <a:r>
              <a:t>4. Driver Accept</a:t>
            </a:r>
          </a:p>
          <a:p>
            <a:pPr>
              <a:defRPr sz="1050">
                <a:solidFill>
                  <a:srgbClr val="1E293B"/>
                </a:solidFill>
              </a:defRPr>
            </a:pPr>
            <a:r>
              <a:t>Driver receives job notification, switches to On Duty, and accepts job.</a:t>
            </a:r>
          </a:p>
        </p:txBody>
      </p:sp>
      <p:sp>
        <p:nvSpPr>
          <p:cNvPr id="11" name="Rounded Rectangle 10"/>
          <p:cNvSpPr/>
          <p:nvPr/>
        </p:nvSpPr>
        <p:spPr>
          <a:xfrm>
            <a:off x="4297679" y="3749039"/>
            <a:ext cx="3566160" cy="2103120"/>
          </a:xfrm>
          <a:prstGeom prst="roundRect">
            <a:avLst/>
          </a:prstGeom>
          <a:solidFill>
            <a:srgbClr val="F0FDF4"/>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300" b="1">
                <a:solidFill>
                  <a:srgbClr val="1B5E20"/>
                </a:solidFill>
              </a:defRPr>
            </a:pPr>
            <a:r>
              <a:t>5. Start Trip</a:t>
            </a:r>
          </a:p>
          <a:p>
            <a:pPr>
              <a:defRPr sz="1050">
                <a:solidFill>
                  <a:srgbClr val="1E293B"/>
                </a:solidFill>
              </a:defRPr>
            </a:pPr>
            <a:r>
              <a:t>Driver clicks Start Trip; status transitions to 'In Progress'.</a:t>
            </a:r>
          </a:p>
        </p:txBody>
      </p:sp>
      <p:sp>
        <p:nvSpPr>
          <p:cNvPr id="12" name="Rounded Rectangle 11"/>
          <p:cNvSpPr/>
          <p:nvPr/>
        </p:nvSpPr>
        <p:spPr>
          <a:xfrm>
            <a:off x="8046719" y="3749039"/>
            <a:ext cx="3566160" cy="2103120"/>
          </a:xfrm>
          <a:prstGeom prst="roundRect">
            <a:avLst/>
          </a:prstGeom>
          <a:solidFill>
            <a:srgbClr val="F0FDF4"/>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300" b="1">
                <a:solidFill>
                  <a:srgbClr val="1B5E20"/>
                </a:solidFill>
              </a:defRPr>
            </a:pPr>
            <a:r>
              <a:t>6. Complete Job</a:t>
            </a:r>
          </a:p>
          <a:p>
            <a:pPr>
              <a:defRPr sz="1050">
                <a:solidFill>
                  <a:srgbClr val="1E293B"/>
                </a:solidFill>
              </a:defRPr>
            </a:pPr>
            <a:r>
              <a:t>Driver empties bin, marks 'Completed', and audit log is saved.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Digital Payment Process (EVC Plus Integration)</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pic>
        <p:nvPicPr>
          <p:cNvPr id="7" name="Picture 6" descr="evc_payment_mockup_1789150502068.jpg"/>
          <p:cNvPicPr>
            <a:picLocks noChangeAspect="1"/>
          </p:cNvPicPr>
          <p:nvPr/>
        </p:nvPicPr>
        <p:blipFill>
          <a:blip r:embed="rId2"/>
          <a:stretch>
            <a:fillRect/>
          </a:stretch>
        </p:blipFill>
        <p:spPr>
          <a:xfrm>
            <a:off x="548640" y="1280160"/>
            <a:ext cx="5760720" cy="3215286"/>
          </a:xfrm>
          <a:prstGeom prst="rect">
            <a:avLst/>
          </a:prstGeom>
        </p:spPr>
      </p:pic>
      <p:sp>
        <p:nvSpPr>
          <p:cNvPr id="8" name="Rounded Rectangle 7"/>
          <p:cNvSpPr/>
          <p:nvPr/>
        </p:nvSpPr>
        <p:spPr>
          <a:xfrm>
            <a:off x="6583680" y="1280160"/>
            <a:ext cx="5029200" cy="4846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defRPr sz="1500" b="1">
                <a:solidFill>
                  <a:srgbClr val="1B5E20"/>
                </a:solidFill>
              </a:defRPr>
            </a:pPr>
            <a:r>
              <a:t>Payment Verification Workflow</a:t>
            </a:r>
          </a:p>
          <a:p>
            <a:pPr>
              <a:spcAft>
                <a:spcPts val="800"/>
              </a:spcAft>
              <a:defRPr sz="1100">
                <a:solidFill>
                  <a:srgbClr val="1E293B"/>
                </a:solidFill>
              </a:defRPr>
            </a:pPr>
            <a:r>
              <a:t>1. Plan Rate Locking: System automatically locks fee based on selected plan ($5.00 Pay Per Pickup, $15 Monthly, $45 Commercial).</a:t>
            </a:r>
          </a:p>
          <a:p>
            <a:pPr>
              <a:spcAft>
                <a:spcPts val="800"/>
              </a:spcAft>
              <a:defRPr sz="1100">
                <a:solidFill>
                  <a:srgbClr val="1E293B"/>
                </a:solidFill>
              </a:defRPr>
            </a:pPr>
            <a:r>
              <a:t>2. USSD PIN Modal: Displays authentic mobile money security prompt requesting 4-digit PIN confirmation.</a:t>
            </a:r>
          </a:p>
          <a:p>
            <a:pPr>
              <a:spcAft>
                <a:spcPts val="800"/>
              </a:spcAft>
              <a:defRPr sz="1100">
                <a:solidFill>
                  <a:srgbClr val="1E293B"/>
                </a:solidFill>
              </a:defRPr>
            </a:pPr>
            <a:r>
              <a:t>3. Simulated Gateway: Verifies PIN input, generates transaction reference, and updates payment ledger.</a:t>
            </a:r>
          </a:p>
          <a:p>
            <a:pPr>
              <a:spcAft>
                <a:spcPts val="800"/>
              </a:spcAft>
              <a:defRPr sz="1100">
                <a:solidFill>
                  <a:srgbClr val="1E293B"/>
                </a:solidFill>
              </a:defRPr>
            </a:pPr>
            <a:r>
              <a:t>4. Status Update: Payment status marks 'Paid', enabling immediate administrative processing and driver dispatch.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System Testing &amp; Validation Matrix</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graphicFrame>
        <p:nvGraphicFramePr>
          <p:cNvPr id="7" name="Table 6"/>
          <p:cNvGraphicFramePr>
            <a:graphicFrameLocks noGrp="1"/>
          </p:cNvGraphicFramePr>
          <p:nvPr/>
        </p:nvGraphicFramePr>
        <p:xfrm>
          <a:off x="548640" y="1280160"/>
          <a:ext cx="11064240" cy="4754880"/>
        </p:xfrm>
        <a:graphic>
          <a:graphicData uri="http://schemas.openxmlformats.org/drawingml/2006/table">
            <a:tbl>
              <a:tblPr firstRow="1" bandRow="1">
                <a:tableStyleId>{5C22544A-7EE6-4342-B048-85BDC9FD1C3A}</a:tableStyleId>
              </a:tblPr>
              <a:tblGrid>
                <a:gridCol w="2766060"/>
                <a:gridCol w="2766060"/>
                <a:gridCol w="2766060"/>
                <a:gridCol w="2766060"/>
              </a:tblGrid>
              <a:tr h="679268">
                <a:tc>
                  <a:txBody>
                    <a:bodyPr/>
                    <a:lstStyle/>
                    <a:p>
                      <a:pPr>
                        <a:defRPr b="1" sz="1100">
                          <a:solidFill>
                            <a:srgbClr val="FFFFFF"/>
                          </a:solidFill>
                        </a:defRPr>
                      </a:pPr>
                      <a:r>
                        <a:t>Test ID</a:t>
                      </a:r>
                    </a:p>
                  </a:txBody>
                  <a:tcPr>
                    <a:solidFill>
                      <a:srgbClr val="1B5E20"/>
                    </a:solidFill>
                  </a:tcPr>
                </a:tc>
                <a:tc>
                  <a:txBody>
                    <a:bodyPr/>
                    <a:lstStyle/>
                    <a:p>
                      <a:pPr>
                        <a:defRPr b="1" sz="1100">
                          <a:solidFill>
                            <a:srgbClr val="FFFFFF"/>
                          </a:solidFill>
                        </a:defRPr>
                      </a:pPr>
                      <a:r>
                        <a:t>Module Tested</a:t>
                      </a:r>
                    </a:p>
                  </a:txBody>
                  <a:tcPr>
                    <a:solidFill>
                      <a:srgbClr val="1B5E20"/>
                    </a:solidFill>
                  </a:tcPr>
                </a:tc>
                <a:tc>
                  <a:txBody>
                    <a:bodyPr/>
                    <a:lstStyle/>
                    <a:p>
                      <a:pPr>
                        <a:defRPr b="1" sz="1100">
                          <a:solidFill>
                            <a:srgbClr val="FFFFFF"/>
                          </a:solidFill>
                        </a:defRPr>
                      </a:pPr>
                      <a:r>
                        <a:t>Test Scenario &amp; Execution</a:t>
                      </a:r>
                    </a:p>
                  </a:txBody>
                  <a:tcPr>
                    <a:solidFill>
                      <a:srgbClr val="1B5E20"/>
                    </a:solidFill>
                  </a:tcPr>
                </a:tc>
                <a:tc>
                  <a:txBody>
                    <a:bodyPr/>
                    <a:lstStyle/>
                    <a:p>
                      <a:pPr>
                        <a:defRPr b="1" sz="1100">
                          <a:solidFill>
                            <a:srgbClr val="FFFFFF"/>
                          </a:solidFill>
                        </a:defRPr>
                      </a:pPr>
                      <a:r>
                        <a:t>Status</a:t>
                      </a:r>
                    </a:p>
                  </a:txBody>
                  <a:tcPr>
                    <a:solidFill>
                      <a:srgbClr val="1B5E20"/>
                    </a:solidFill>
                  </a:tcPr>
                </a:tc>
              </a:tr>
              <a:tr h="679268">
                <a:tc>
                  <a:txBody>
                    <a:bodyPr/>
                    <a:lstStyle/>
                    <a:p>
                      <a:pPr>
                        <a:defRPr sz="1000">
                          <a:solidFill>
                            <a:srgbClr val="1E293B"/>
                          </a:solidFill>
                        </a:defRPr>
                      </a:pPr>
                      <a:r>
                        <a:t>TC-01</a:t>
                      </a:r>
                    </a:p>
                  </a:txBody>
                  <a:tcPr/>
                </a:tc>
                <a:tc>
                  <a:txBody>
                    <a:bodyPr/>
                    <a:lstStyle/>
                    <a:p>
                      <a:pPr>
                        <a:defRPr sz="1000">
                          <a:solidFill>
                            <a:srgbClr val="1E293B"/>
                          </a:solidFill>
                        </a:defRPr>
                      </a:pPr>
                      <a:r>
                        <a:t>Registration &amp; Auth</a:t>
                      </a:r>
                    </a:p>
                  </a:txBody>
                  <a:tcPr/>
                </a:tc>
                <a:tc>
                  <a:txBody>
                    <a:bodyPr/>
                    <a:lstStyle/>
                    <a:p>
                      <a:pPr>
                        <a:defRPr sz="1000">
                          <a:solidFill>
                            <a:srgbClr val="1E293B"/>
                          </a:solidFill>
                        </a:defRPr>
                      </a:pPr>
                      <a:r>
                        <a:t>Submit credentials (phone, district, password). Verifies Bcrypt hash &amp; session token.</a:t>
                      </a:r>
                    </a:p>
                  </a:txBody>
                  <a:tcPr/>
                </a:tc>
                <a:tc>
                  <a:txBody>
                    <a:bodyPr/>
                    <a:lstStyle/>
                    <a:p>
                      <a:pPr>
                        <a:defRPr sz="1000" b="1">
                          <a:solidFill>
                            <a:srgbClr val="2E7D32"/>
                          </a:solidFill>
                        </a:defRPr>
                      </a:pPr>
                      <a:r>
                        <a:t>PASS</a:t>
                      </a:r>
                    </a:p>
                  </a:txBody>
                  <a:tcPr/>
                </a:tc>
              </a:tr>
              <a:tr h="679268">
                <a:tc>
                  <a:txBody>
                    <a:bodyPr/>
                    <a:lstStyle/>
                    <a:p>
                      <a:pPr>
                        <a:defRPr sz="1000">
                          <a:solidFill>
                            <a:srgbClr val="1E293B"/>
                          </a:solidFill>
                        </a:defRPr>
                      </a:pPr>
                      <a:r>
                        <a:t>TC-02</a:t>
                      </a:r>
                    </a:p>
                  </a:txBody>
                  <a:tcPr/>
                </a:tc>
                <a:tc>
                  <a:txBody>
                    <a:bodyPr/>
                    <a:lstStyle/>
                    <a:p>
                      <a:pPr>
                        <a:defRPr sz="1000">
                          <a:solidFill>
                            <a:srgbClr val="1E293B"/>
                          </a:solidFill>
                        </a:defRPr>
                      </a:pPr>
                      <a:r>
                        <a:t>1-to-1 Auto-Dispatch</a:t>
                      </a:r>
                    </a:p>
                  </a:txBody>
                  <a:tcPr/>
                </a:tc>
                <a:tc>
                  <a:txBody>
                    <a:bodyPr/>
                    <a:lstStyle/>
                    <a:p>
                      <a:pPr>
                        <a:defRPr sz="1000">
                          <a:solidFill>
                            <a:srgbClr val="1E293B"/>
                          </a:solidFill>
                        </a:defRPr>
                      </a:pPr>
                      <a:r>
                        <a:t>Resident in Hodan district submits pickup request. System auto-assigns Hodan driver.</a:t>
                      </a:r>
                    </a:p>
                  </a:txBody>
                  <a:tcPr/>
                </a:tc>
                <a:tc>
                  <a:txBody>
                    <a:bodyPr/>
                    <a:lstStyle/>
                    <a:p>
                      <a:pPr>
                        <a:defRPr sz="1000" b="1">
                          <a:solidFill>
                            <a:srgbClr val="2E7D32"/>
                          </a:solidFill>
                        </a:defRPr>
                      </a:pPr>
                      <a:r>
                        <a:t>PASS</a:t>
                      </a:r>
                    </a:p>
                  </a:txBody>
                  <a:tcPr/>
                </a:tc>
              </a:tr>
              <a:tr h="679268">
                <a:tc>
                  <a:txBody>
                    <a:bodyPr/>
                    <a:lstStyle/>
                    <a:p>
                      <a:pPr>
                        <a:defRPr sz="1000">
                          <a:solidFill>
                            <a:srgbClr val="1E293B"/>
                          </a:solidFill>
                        </a:defRPr>
                      </a:pPr>
                      <a:r>
                        <a:t>TC-03</a:t>
                      </a:r>
                    </a:p>
                  </a:txBody>
                  <a:tcPr/>
                </a:tc>
                <a:tc>
                  <a:txBody>
                    <a:bodyPr/>
                    <a:lstStyle/>
                    <a:p>
                      <a:pPr>
                        <a:defRPr sz="1000">
                          <a:solidFill>
                            <a:srgbClr val="1E293B"/>
                          </a:solidFill>
                        </a:defRPr>
                      </a:pPr>
                      <a:r>
                        <a:t>Driver Job Management</a:t>
                      </a:r>
                    </a:p>
                  </a:txBody>
                  <a:tcPr/>
                </a:tc>
                <a:tc>
                  <a:txBody>
                    <a:bodyPr/>
                    <a:lstStyle/>
                    <a:p>
                      <a:pPr>
                        <a:defRPr sz="1000">
                          <a:solidFill>
                            <a:srgbClr val="1E293B"/>
                          </a:solidFill>
                        </a:defRPr>
                      </a:pPr>
                      <a:r>
                        <a:t>Assigned driver switches to On Duty &amp; accepts job. Status updates to In Progress.</a:t>
                      </a:r>
                    </a:p>
                  </a:txBody>
                  <a:tcPr/>
                </a:tc>
                <a:tc>
                  <a:txBody>
                    <a:bodyPr/>
                    <a:lstStyle/>
                    <a:p>
                      <a:pPr>
                        <a:defRPr sz="1000" b="1">
                          <a:solidFill>
                            <a:srgbClr val="2E7D32"/>
                          </a:solidFill>
                        </a:defRPr>
                      </a:pPr>
                      <a:r>
                        <a:t>PASS</a:t>
                      </a:r>
                    </a:p>
                  </a:txBody>
                  <a:tcPr/>
                </a:tc>
              </a:tr>
              <a:tr h="679268">
                <a:tc>
                  <a:txBody>
                    <a:bodyPr/>
                    <a:lstStyle/>
                    <a:p>
                      <a:pPr>
                        <a:defRPr sz="1000">
                          <a:solidFill>
                            <a:srgbClr val="1E293B"/>
                          </a:solidFill>
                        </a:defRPr>
                      </a:pPr>
                      <a:r>
                        <a:t>TC-04</a:t>
                      </a:r>
                    </a:p>
                  </a:txBody>
                  <a:tcPr/>
                </a:tc>
                <a:tc>
                  <a:txBody>
                    <a:bodyPr/>
                    <a:lstStyle/>
                    <a:p>
                      <a:pPr>
                        <a:defRPr sz="1000">
                          <a:solidFill>
                            <a:srgbClr val="1E293B"/>
                          </a:solidFill>
                        </a:defRPr>
                      </a:pPr>
                      <a:r>
                        <a:t>Payment &amp; Ledger</a:t>
                      </a:r>
                    </a:p>
                  </a:txBody>
                  <a:tcPr/>
                </a:tc>
                <a:tc>
                  <a:txBody>
                    <a:bodyPr/>
                    <a:lstStyle/>
                    <a:p>
                      <a:pPr>
                        <a:defRPr sz="1000">
                          <a:solidFill>
                            <a:srgbClr val="1E293B"/>
                          </a:solidFill>
                        </a:defRPr>
                      </a:pPr>
                      <a:r>
                        <a:t>Resident completes $5.00 EVC Plus checkout form. Payment registered as Paid.</a:t>
                      </a:r>
                    </a:p>
                  </a:txBody>
                  <a:tcPr/>
                </a:tc>
                <a:tc>
                  <a:txBody>
                    <a:bodyPr/>
                    <a:lstStyle/>
                    <a:p>
                      <a:pPr>
                        <a:defRPr sz="1000" b="1">
                          <a:solidFill>
                            <a:srgbClr val="2E7D32"/>
                          </a:solidFill>
                        </a:defRPr>
                      </a:pPr>
                      <a:r>
                        <a:t>PASS</a:t>
                      </a:r>
                    </a:p>
                  </a:txBody>
                  <a:tcPr/>
                </a:tc>
              </a:tr>
              <a:tr h="679268">
                <a:tc>
                  <a:txBody>
                    <a:bodyPr/>
                    <a:lstStyle/>
                    <a:p>
                      <a:pPr>
                        <a:defRPr sz="1000">
                          <a:solidFill>
                            <a:srgbClr val="1E293B"/>
                          </a:solidFill>
                        </a:defRPr>
                      </a:pPr>
                      <a:r>
                        <a:t>TC-05</a:t>
                      </a:r>
                    </a:p>
                  </a:txBody>
                  <a:tcPr/>
                </a:tc>
                <a:tc>
                  <a:txBody>
                    <a:bodyPr/>
                    <a:lstStyle/>
                    <a:p>
                      <a:pPr>
                        <a:defRPr sz="1000">
                          <a:solidFill>
                            <a:srgbClr val="1E293B"/>
                          </a:solidFill>
                        </a:defRPr>
                      </a:pPr>
                      <a:r>
                        <a:t>Threaded Messaging</a:t>
                      </a:r>
                    </a:p>
                  </a:txBody>
                  <a:tcPr/>
                </a:tc>
                <a:tc>
                  <a:txBody>
                    <a:bodyPr/>
                    <a:lstStyle/>
                    <a:p>
                      <a:pPr>
                        <a:defRPr sz="1000">
                          <a:solidFill>
                            <a:srgbClr val="1E293B"/>
                          </a:solidFill>
                        </a:defRPr>
                      </a:pPr>
                      <a:r>
                        <a:t>Admin replies to resident report with embedded quote text (`Re: ...`). Rendered in feed.</a:t>
                      </a:r>
                    </a:p>
                  </a:txBody>
                  <a:tcPr/>
                </a:tc>
                <a:tc>
                  <a:txBody>
                    <a:bodyPr/>
                    <a:lstStyle/>
                    <a:p>
                      <a:pPr>
                        <a:defRPr sz="1000" b="1">
                          <a:solidFill>
                            <a:srgbClr val="2E7D32"/>
                          </a:solidFill>
                        </a:defRPr>
                      </a:pPr>
                      <a:r>
                        <a:t>PASS</a:t>
                      </a:r>
                    </a:p>
                  </a:txBody>
                  <a:tcPr/>
                </a:tc>
              </a:tr>
              <a:tr h="679272">
                <a:tc>
                  <a:txBody>
                    <a:bodyPr/>
                    <a:lstStyle/>
                    <a:p>
                      <a:pPr>
                        <a:defRPr sz="1000">
                          <a:solidFill>
                            <a:srgbClr val="1E293B"/>
                          </a:solidFill>
                        </a:defRPr>
                      </a:pPr>
                      <a:r>
                        <a:t>TC-06</a:t>
                      </a:r>
                    </a:p>
                  </a:txBody>
                  <a:tcPr/>
                </a:tc>
                <a:tc>
                  <a:txBody>
                    <a:bodyPr/>
                    <a:lstStyle/>
                    <a:p>
                      <a:pPr>
                        <a:defRPr sz="1000">
                          <a:solidFill>
                            <a:srgbClr val="1E293B"/>
                          </a:solidFill>
                        </a:defRPr>
                      </a:pPr>
                      <a:r>
                        <a:t>Buffer Output Safety</a:t>
                      </a:r>
                    </a:p>
                  </a:txBody>
                  <a:tcPr/>
                </a:tc>
                <a:tc>
                  <a:txBody>
                    <a:bodyPr/>
                    <a:lstStyle/>
                    <a:p>
                      <a:pPr>
                        <a:defRPr sz="1000">
                          <a:solidFill>
                            <a:srgbClr val="1E293B"/>
                          </a:solidFill>
                        </a:defRPr>
                      </a:pPr>
                      <a:r>
                        <a:t>API responses executed across endpoints. Purges buffers (`ob_clean`), zero JSON error.</a:t>
                      </a:r>
                    </a:p>
                  </a:txBody>
                  <a:tcPr/>
                </a:tc>
                <a:tc>
                  <a:txBody>
                    <a:bodyPr/>
                    <a:lstStyle/>
                    <a:p>
                      <a:pPr>
                        <a:defRPr sz="1000" b="1">
                          <a:solidFill>
                            <a:srgbClr val="2E7D32"/>
                          </a:solidFill>
                        </a:defRPr>
                      </a:pPr>
                      <a:r>
                        <a:t>PASS</a:t>
                      </a:r>
                    </a:p>
                  </a:txBody>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Results &amp; Key Achievements</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371600"/>
            <a:ext cx="5394960" cy="2103120"/>
          </a:xfrm>
          <a:prstGeom prst="roundRect">
            <a:avLst/>
          </a:prstGeom>
          <a:solidFill>
            <a:srgbClr val="F0FDF4"/>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1B5E20"/>
                </a:solidFill>
              </a:defRPr>
            </a:pPr>
            <a:r>
              <a:t>🏆 Digitized 18 Mogadishu Districts</a:t>
            </a:r>
          </a:p>
          <a:p>
            <a:pPr>
              <a:defRPr sz="1100">
                <a:solidFill>
                  <a:srgbClr val="1E293B"/>
                </a:solidFill>
              </a:defRPr>
            </a:pPr>
            <a:r>
              <a:t>Eliminated manual paper logs and static routing across all 18 municipal districts with automated 1-to-1 driver auto-dispatch.</a:t>
            </a:r>
          </a:p>
        </p:txBody>
      </p:sp>
      <p:sp>
        <p:nvSpPr>
          <p:cNvPr id="8" name="Rounded Rectangle 7"/>
          <p:cNvSpPr/>
          <p:nvPr/>
        </p:nvSpPr>
        <p:spPr>
          <a:xfrm>
            <a:off x="6126479" y="1371600"/>
            <a:ext cx="5394960" cy="2103120"/>
          </a:xfrm>
          <a:prstGeom prst="roundRect">
            <a:avLst/>
          </a:prstGeom>
          <a:solidFill>
            <a:srgbClr val="F0FDF4"/>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1B5E20"/>
                </a:solidFill>
              </a:defRPr>
            </a:pPr>
            <a:r>
              <a:t>🏆 Eliminated Revenue Leakage</a:t>
            </a:r>
          </a:p>
          <a:p>
            <a:pPr>
              <a:defRPr sz="1100">
                <a:solidFill>
                  <a:srgbClr val="1E293B"/>
                </a:solidFill>
              </a:defRPr>
            </a:pPr>
            <a:r>
              <a:t>Replaced cash collections with transparent digital EVC Plus payment tracking and immutable database ledgers.</a:t>
            </a:r>
          </a:p>
        </p:txBody>
      </p:sp>
      <p:sp>
        <p:nvSpPr>
          <p:cNvPr id="9" name="Rounded Rectangle 8"/>
          <p:cNvSpPr/>
          <p:nvPr/>
        </p:nvSpPr>
        <p:spPr>
          <a:xfrm>
            <a:off x="548640" y="3749039"/>
            <a:ext cx="5394960" cy="2103120"/>
          </a:xfrm>
          <a:prstGeom prst="roundRect">
            <a:avLst/>
          </a:prstGeom>
          <a:solidFill>
            <a:srgbClr val="F0FDF4"/>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1B5E20"/>
                </a:solidFill>
              </a:defRPr>
            </a:pPr>
            <a:r>
              <a:t>🏆 End-to-End Request Transparency</a:t>
            </a:r>
          </a:p>
          <a:p>
            <a:pPr>
              <a:defRPr sz="1100">
                <a:solidFill>
                  <a:srgbClr val="1E293B"/>
                </a:solidFill>
              </a:defRPr>
            </a:pPr>
            <a:r>
              <a:t>Achieved 100% request visibility across the full lifecycle: Pending -&gt; Assigned -&gt; Accepted -&gt; In Progress -&gt; Completed.</a:t>
            </a:r>
          </a:p>
        </p:txBody>
      </p:sp>
      <p:sp>
        <p:nvSpPr>
          <p:cNvPr id="10" name="Rounded Rectangle 9"/>
          <p:cNvSpPr/>
          <p:nvPr/>
        </p:nvSpPr>
        <p:spPr>
          <a:xfrm>
            <a:off x="6126479" y="3749039"/>
            <a:ext cx="5394960" cy="2103120"/>
          </a:xfrm>
          <a:prstGeom prst="roundRect">
            <a:avLst/>
          </a:prstGeom>
          <a:solidFill>
            <a:srgbClr val="F0FDF4"/>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1B5E20"/>
                </a:solidFill>
              </a:defRPr>
            </a:pPr>
            <a:r>
              <a:t>🏆 Automated PDF Reporting</a:t>
            </a:r>
          </a:p>
          <a:p>
            <a:pPr>
              <a:defRPr sz="1100">
                <a:solidFill>
                  <a:srgbClr val="1E293B"/>
                </a:solidFill>
              </a:defRPr>
            </a:pPr>
            <a:r>
              <a:t>Implemented one-click client PDF statement generation and administrative printable audit reports.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System Strengths &amp; Technical Contribution</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371600"/>
            <a:ext cx="5394960" cy="210312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1B5E20"/>
                </a:solidFill>
              </a:defRPr>
            </a:pPr>
            <a:r>
              <a:t>⭐ Modular 3-Tier Architecture</a:t>
            </a:r>
          </a:p>
          <a:p>
            <a:pPr>
              <a:defRPr sz="1100">
                <a:solidFill>
                  <a:srgbClr val="1E293B"/>
                </a:solidFill>
              </a:defRPr>
            </a:pPr>
            <a:r>
              <a:t>Decoupled frontend JavaScript modules and PHP RESTful API endpoints (`api/*.php`) ensuring high maintainability.</a:t>
            </a:r>
          </a:p>
        </p:txBody>
      </p:sp>
      <p:sp>
        <p:nvSpPr>
          <p:cNvPr id="8" name="Rounded Rectangle 7"/>
          <p:cNvSpPr/>
          <p:nvPr/>
        </p:nvSpPr>
        <p:spPr>
          <a:xfrm>
            <a:off x="6126479" y="1371600"/>
            <a:ext cx="5394960" cy="210312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1B5E20"/>
                </a:solidFill>
              </a:defRPr>
            </a:pPr>
            <a:r>
              <a:t>⭐ Automated 1-to-1 District Routing</a:t>
            </a:r>
          </a:p>
          <a:p>
            <a:pPr>
              <a:defRPr sz="1100">
                <a:solidFill>
                  <a:srgbClr val="1E293B"/>
                </a:solidFill>
              </a:defRPr>
            </a:pPr>
            <a:r>
              <a:t>Intelligent binding between municipal districts and dedicated waste trucks, eliminating manual dispatch delays.</a:t>
            </a:r>
          </a:p>
        </p:txBody>
      </p:sp>
      <p:sp>
        <p:nvSpPr>
          <p:cNvPr id="9" name="Rounded Rectangle 8"/>
          <p:cNvSpPr/>
          <p:nvPr/>
        </p:nvSpPr>
        <p:spPr>
          <a:xfrm>
            <a:off x="548640" y="3749039"/>
            <a:ext cx="5394960" cy="210312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1B5E20"/>
                </a:solidFill>
              </a:defRPr>
            </a:pPr>
            <a:r>
              <a:t>⭐ Output Buffer Reliability Safety</a:t>
            </a:r>
          </a:p>
          <a:p>
            <a:pPr>
              <a:defRPr sz="1100">
                <a:solidFill>
                  <a:srgbClr val="1E293B"/>
                </a:solidFill>
              </a:defRPr>
            </a:pPr>
            <a:r>
              <a:t>Integrated `ob_start()` and `ob_clean()` buffer purging inside API response handlers, guaranteeing zero JSON syntax errors.</a:t>
            </a:r>
          </a:p>
        </p:txBody>
      </p:sp>
      <p:sp>
        <p:nvSpPr>
          <p:cNvPr id="10" name="Rounded Rectangle 9"/>
          <p:cNvSpPr/>
          <p:nvPr/>
        </p:nvSpPr>
        <p:spPr>
          <a:xfrm>
            <a:off x="6126479" y="3749039"/>
            <a:ext cx="5394960" cy="210312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1B5E20"/>
                </a:solidFill>
              </a:defRPr>
            </a:pPr>
            <a:r>
              <a:t>⭐ Role-Based Security (RBAC)</a:t>
            </a:r>
          </a:p>
          <a:p>
            <a:pPr>
              <a:defRPr sz="1100">
                <a:solidFill>
                  <a:srgbClr val="1E293B"/>
                </a:solidFill>
              </a:defRPr>
            </a:pPr>
            <a:r>
              <a:t>Bcrypt password hashing, HTTP-only session verification with session auto-healing, and 100% Prepared Statements.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System Limitations &amp; Future Enhancements</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280160"/>
            <a:ext cx="5303520" cy="4846320"/>
          </a:xfrm>
          <a:prstGeom prst="roundRect">
            <a:avLst/>
          </a:prstGeom>
          <a:solidFill>
            <a:srgbClr val="FEF2F2"/>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500" b="1">
                <a:solidFill>
                  <a:srgbClr val="E11D48"/>
                </a:solidFill>
              </a:defRPr>
            </a:pPr>
            <a:r>
              <a:t>⚠️ CURRENT LIMITATIONS</a:t>
            </a:r>
          </a:p>
          <a:p>
            <a:pPr>
              <a:spcAft>
                <a:spcPts val="1000"/>
              </a:spcAft>
              <a:defRPr sz="1100">
                <a:solidFill>
                  <a:srgbClr val="1E293B"/>
                </a:solidFill>
              </a:defRPr>
            </a:pPr>
            <a:r>
              <a:t>• Mobile-Responsive Web App: Runs in mobile web browsers; native app store binaries are not published.</a:t>
            </a:r>
          </a:p>
          <a:p>
            <a:pPr>
              <a:spcAft>
                <a:spcPts val="1000"/>
              </a:spcAft>
              <a:defRPr sz="1100">
                <a:solidFill>
                  <a:srgbClr val="1E293B"/>
                </a:solidFill>
              </a:defRPr>
            </a:pPr>
            <a:r>
              <a:t>• Simulated USSD Gateway: EVC Plus operates via PIN modal reference (direct telecom API requires commercial sandbox).</a:t>
            </a:r>
          </a:p>
          <a:p>
            <a:pPr>
              <a:spcAft>
                <a:spcPts val="1000"/>
              </a:spcAft>
              <a:defRPr sz="1100">
                <a:solidFill>
                  <a:srgbClr val="1E293B"/>
                </a:solidFill>
              </a:defRPr>
            </a:pPr>
            <a:r>
              <a:t>• No Physical Hardware Sensors: Waste volume relies on plan classification rather than physical IoT truck weight load cells.</a:t>
            </a:r>
          </a:p>
        </p:txBody>
      </p:sp>
      <p:sp>
        <p:nvSpPr>
          <p:cNvPr id="8" name="Rounded Rectangle 7"/>
          <p:cNvSpPr/>
          <p:nvPr/>
        </p:nvSpPr>
        <p:spPr>
          <a:xfrm>
            <a:off x="6217920" y="1280160"/>
            <a:ext cx="5394960" cy="4846320"/>
          </a:xfrm>
          <a:prstGeom prst="roundRect">
            <a:avLst/>
          </a:prstGeom>
          <a:solidFill>
            <a:srgbClr val="F0FDF4"/>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500" b="1">
                <a:solidFill>
                  <a:srgbClr val="1B5E20"/>
                </a:solidFill>
              </a:defRPr>
            </a:pPr>
            <a:r>
              <a:t>🚀 FUTURE WORK (Planned Roadmap)</a:t>
            </a:r>
          </a:p>
          <a:p>
            <a:pPr>
              <a:spcAft>
                <a:spcPts val="1000"/>
              </a:spcAft>
              <a:defRPr sz="1100">
                <a:solidFill>
                  <a:srgbClr val="1E293B"/>
                </a:solidFill>
              </a:defRPr>
            </a:pPr>
            <a:r>
              <a:t>• Native Android/iOS Mobile Apps: Publishing native mobile applications with push notifications.</a:t>
            </a:r>
          </a:p>
          <a:p>
            <a:pPr>
              <a:spcAft>
                <a:spcPts val="1000"/>
              </a:spcAft>
              <a:defRPr sz="1100">
                <a:solidFill>
                  <a:srgbClr val="1E293B"/>
                </a:solidFill>
              </a:defRPr>
            </a:pPr>
            <a:r>
              <a:t>• IoT Smart Bin Sensors: Solar-powered Ultrasonic sensors triggering auto-requests at 85% capacity.</a:t>
            </a:r>
          </a:p>
          <a:p>
            <a:pPr>
              <a:spcAft>
                <a:spcPts val="1000"/>
              </a:spcAft>
              <a:defRPr sz="1100">
                <a:solidFill>
                  <a:srgbClr val="1E293B"/>
                </a:solidFill>
              </a:defRPr>
            </a:pPr>
            <a:r>
              <a:t>• AI Route Optimization: Machine learning algorithms optimizing truck routing to cut fuel waste by 30%.</a:t>
            </a:r>
          </a:p>
          <a:p>
            <a:pPr>
              <a:spcAft>
                <a:spcPts val="1000"/>
              </a:spcAft>
              <a:defRPr sz="1100">
                <a:solidFill>
                  <a:srgbClr val="1E293B"/>
                </a:solidFill>
              </a:defRPr>
            </a:pPr>
            <a:r>
              <a:t>• Direct Telecom API Integration: Connecting live Hormuud / Somnet USSD payment gateways.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Conclusion</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1097280" y="1645920"/>
            <a:ext cx="9966960" cy="4114800"/>
          </a:xfrm>
          <a:prstGeom prst="roundRect">
            <a:avLst/>
          </a:prstGeom>
          <a:solidFill>
            <a:srgbClr val="E8F5E9"/>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400"/>
              </a:spcAft>
              <a:defRPr sz="1600" b="1">
                <a:solidFill>
                  <a:srgbClr val="1B5E20"/>
                </a:solidFill>
              </a:defRPr>
            </a:pPr>
            <a:r>
              <a:t>🎓 FINAL CONCLUSION</a:t>
            </a:r>
          </a:p>
          <a:p>
            <a:pPr>
              <a:spcAft>
                <a:spcPts val="1000"/>
              </a:spcAft>
              <a:defRPr sz="1200">
                <a:solidFill>
                  <a:srgbClr val="1E293B"/>
                </a:solidFill>
              </a:defRPr>
            </a:pPr>
            <a:r>
              <a:t>• Problem Solved: The Waste Collection Management System (WCMS) successfully digitizes solid waste logistics in Mogadishu, replacing manual paper logs and static truck routes.</a:t>
            </a:r>
          </a:p>
          <a:p>
            <a:pPr>
              <a:spcAft>
                <a:spcPts val="1000"/>
              </a:spcAft>
              <a:defRPr sz="1200">
                <a:solidFill>
                  <a:srgbClr val="1E293B"/>
                </a:solidFill>
              </a:defRPr>
            </a:pPr>
            <a:r>
              <a:t>• Unified Multi-Portal System: Seamlessly synchronizes Residents, Administrators, and Field Drivers in a real-time authenticated communication loop.</a:t>
            </a:r>
          </a:p>
          <a:p>
            <a:pPr>
              <a:spcAft>
                <a:spcPts val="1000"/>
              </a:spcAft>
              <a:defRPr sz="1200">
                <a:solidFill>
                  <a:srgbClr val="1E293B"/>
                </a:solidFill>
              </a:defRPr>
            </a:pPr>
            <a:r>
              <a:t>• Financial &amp; Logistical Accountability: Automated 1-to-1 district auto-dispatch and EVC Plus digital payment tracking eliminate cash revenue leakage and roadside trash delays.</a:t>
            </a:r>
          </a:p>
          <a:p>
            <a:pPr>
              <a:spcAft>
                <a:spcPts val="1000"/>
              </a:spcAft>
              <a:defRPr sz="1200">
                <a:solidFill>
                  <a:srgbClr val="1E293B"/>
                </a:solidFill>
              </a:defRPr>
            </a:pPr>
            <a:r>
              <a:t>• Foundation for Governance: Lays a robust technical foundation for digital municipal governance and urban sanitation in Somalia.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Recommendations</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sp>
        <p:nvSpPr>
          <p:cNvPr id="7" name="Rounded Rectangle 6"/>
          <p:cNvSpPr/>
          <p:nvPr/>
        </p:nvSpPr>
        <p:spPr>
          <a:xfrm>
            <a:off x="548640" y="1371600"/>
            <a:ext cx="11064240" cy="13716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1B5E20"/>
                </a:solidFill>
              </a:defRPr>
            </a:pPr>
            <a:r>
              <a:t>1. Municipal Adoption</a:t>
            </a:r>
          </a:p>
          <a:p>
            <a:pPr>
              <a:defRPr sz="1100">
                <a:solidFill>
                  <a:srgbClr val="1E293B"/>
                </a:solidFill>
              </a:defRPr>
            </a:pPr>
            <a:r>
              <a:t>Recommend local sanitation authorities and private collection firms in Mogadishu officially adopt the WCMS digital portal to replace paper logs.</a:t>
            </a:r>
          </a:p>
        </p:txBody>
      </p:sp>
      <p:sp>
        <p:nvSpPr>
          <p:cNvPr id="8" name="Rounded Rectangle 7"/>
          <p:cNvSpPr/>
          <p:nvPr/>
        </p:nvSpPr>
        <p:spPr>
          <a:xfrm>
            <a:off x="548640" y="2926080"/>
            <a:ext cx="11064240" cy="13716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1B5E20"/>
                </a:solidFill>
              </a:defRPr>
            </a:pPr>
            <a:r>
              <a:t>2. Driver Digital Orientation</a:t>
            </a:r>
          </a:p>
          <a:p>
            <a:pPr>
              <a:defRPr sz="1100">
                <a:solidFill>
                  <a:srgbClr val="1E293B"/>
                </a:solidFill>
              </a:defRPr>
            </a:pPr>
            <a:r>
              <a:t>Conduct structured digital literacy workshops for waste truck drivers to familiarize them with mobile portal job acceptance and duty status toggling.</a:t>
            </a:r>
          </a:p>
        </p:txBody>
      </p:sp>
      <p:sp>
        <p:nvSpPr>
          <p:cNvPr id="9" name="Rounded Rectangle 8"/>
          <p:cNvSpPr/>
          <p:nvPr/>
        </p:nvSpPr>
        <p:spPr>
          <a:xfrm>
            <a:off x="548640" y="4480560"/>
            <a:ext cx="11064240" cy="137160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400" b="1">
                <a:solidFill>
                  <a:srgbClr val="1B5E20"/>
                </a:solidFill>
              </a:defRPr>
            </a:pPr>
            <a:r>
              <a:t>3. Telecom SMS Gateway Partnership</a:t>
            </a:r>
          </a:p>
          <a:p>
            <a:pPr>
              <a:defRPr sz="1100">
                <a:solidFill>
                  <a:srgbClr val="1E293B"/>
                </a:solidFill>
              </a:defRPr>
            </a:pPr>
            <a:r>
              <a:t>Form formal partnerships with local telecommunications providers (Hormuud/Somnet) for direct USSD API sandbox integration and SMS alerts.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9144000" cy="274320"/>
          </a:xfrm>
          <a:prstGeom prst="rect">
            <a:avLst/>
          </a:prstGeom>
          <a:noFill/>
        </p:spPr>
        <p:txBody>
          <a:bodyPr wrap="square">
            <a:spAutoFit/>
          </a:bodyPr>
          <a:lstStyle/>
          <a:p>
            <a:pPr>
              <a:defRPr sz="1000" b="1">
                <a:solidFill>
                  <a:srgbClr val="A7F3D0"/>
                </a:solidFill>
              </a:defRPr>
            </a:pPr>
            <a:r>
              <a:t>BENADIR UNIVERSITY | THESIS DEFENSE</a:t>
            </a:r>
          </a:p>
        </p:txBody>
      </p:sp>
      <p:sp>
        <p:nvSpPr>
          <p:cNvPr id="4" name="TextBox 3"/>
          <p:cNvSpPr txBox="1"/>
          <p:nvPr/>
        </p:nvSpPr>
        <p:spPr>
          <a:xfrm>
            <a:off x="548640" y="347472"/>
            <a:ext cx="10515600" cy="548640"/>
          </a:xfrm>
          <a:prstGeom prst="rect">
            <a:avLst/>
          </a:prstGeom>
          <a:noFill/>
        </p:spPr>
        <p:txBody>
          <a:bodyPr wrap="square">
            <a:spAutoFit/>
          </a:bodyPr>
          <a:lstStyle/>
          <a:p>
            <a:pPr>
              <a:defRPr sz="2200" b="1">
                <a:solidFill>
                  <a:srgbClr val="FFFFFF"/>
                </a:solidFill>
              </a:defRPr>
            </a:pPr>
            <a:r>
              <a:t>System Operational Demonstration Flow</a:t>
            </a:r>
          </a:p>
        </p:txBody>
      </p:sp>
      <p:sp>
        <p:nvSpPr>
          <p:cNvPr id="5" name="Rectangle 4"/>
          <p:cNvSpPr/>
          <p:nvPr/>
        </p:nvSpPr>
        <p:spPr>
          <a:xfrm>
            <a:off x="0" y="6446520"/>
            <a:ext cx="12191695" cy="411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92240"/>
            <a:ext cx="10972800" cy="320040"/>
          </a:xfrm>
          <a:prstGeom prst="rect">
            <a:avLst/>
          </a:prstGeom>
          <a:noFill/>
        </p:spPr>
        <p:txBody>
          <a:bodyPr wrap="none">
            <a:spAutoFit/>
          </a:bodyPr>
          <a:lstStyle/>
          <a:p>
            <a:pPr>
              <a:defRPr sz="1000">
                <a:solidFill>
                  <a:srgbClr val="64748B"/>
                </a:solidFill>
              </a:defRPr>
            </a:pPr>
            <a:r>
              <a:t>Smart Waste Collection Management System (SWCMS) | Benadir University - 2025/2026</a:t>
            </a:r>
          </a:p>
        </p:txBody>
      </p:sp>
      <p:pic>
        <p:nvPicPr>
          <p:cNvPr id="7" name="Picture 6" descr="pdf_statement_mockup_1789150534257.jpg"/>
          <p:cNvPicPr>
            <a:picLocks noChangeAspect="1"/>
          </p:cNvPicPr>
          <p:nvPr/>
        </p:nvPicPr>
        <p:blipFill>
          <a:blip r:embed="rId2"/>
          <a:stretch>
            <a:fillRect/>
          </a:stretch>
        </p:blipFill>
        <p:spPr>
          <a:xfrm>
            <a:off x="6583680" y="1280160"/>
            <a:ext cx="5029200" cy="2806995"/>
          </a:xfrm>
          <a:prstGeom prst="rect">
            <a:avLst/>
          </a:prstGeom>
        </p:spPr>
      </p:pic>
      <p:sp>
        <p:nvSpPr>
          <p:cNvPr id="8" name="Rounded Rectangle 7"/>
          <p:cNvSpPr/>
          <p:nvPr/>
        </p:nvSpPr>
        <p:spPr>
          <a:xfrm>
            <a:off x="548640" y="1280160"/>
            <a:ext cx="5760720" cy="4846320"/>
          </a:xfrm>
          <a:prstGeom prst="roundRect">
            <a:avLst/>
          </a:prstGeom>
          <a:solidFill>
            <a:srgbClr val="FFFFFF"/>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500" b="1">
                <a:solidFill>
                  <a:srgbClr val="1B5E20"/>
                </a:solidFill>
              </a:defRPr>
            </a:pPr>
            <a:r>
              <a:t>🔄 COMPLETE SYSTEM FLOW RECAP</a:t>
            </a:r>
          </a:p>
          <a:p>
            <a:pPr>
              <a:spcAft>
                <a:spcPts val="800"/>
              </a:spcAft>
              <a:defRPr sz="1100">
                <a:solidFill>
                  <a:srgbClr val="1E293B"/>
                </a:solidFill>
              </a:defRPr>
            </a:pPr>
            <a:r>
              <a:t>1. RESIDENT: Submits pickup request &amp; completes $5 EVC PIN payment.</a:t>
            </a:r>
          </a:p>
          <a:p>
            <a:pPr>
              <a:spcAft>
                <a:spcPts val="800"/>
              </a:spcAft>
              <a:defRPr sz="1100">
                <a:solidFill>
                  <a:srgbClr val="1E293B"/>
                </a:solidFill>
              </a:defRPr>
            </a:pPr>
            <a:r>
              <a:t>2. SYSTEM: Auto-dispatches request to assigned 1-to-1 district driver.</a:t>
            </a:r>
          </a:p>
          <a:p>
            <a:pPr>
              <a:spcAft>
                <a:spcPts val="800"/>
              </a:spcAft>
              <a:defRPr sz="1100">
                <a:solidFill>
                  <a:srgbClr val="1E293B"/>
                </a:solidFill>
              </a:defRPr>
            </a:pPr>
            <a:r>
              <a:t>3. ADMIN: Monitors live request on dashboard analytics panel.</a:t>
            </a:r>
          </a:p>
          <a:p>
            <a:pPr>
              <a:spcAft>
                <a:spcPts val="800"/>
              </a:spcAft>
              <a:defRPr sz="1100">
                <a:solidFill>
                  <a:srgbClr val="1E293B"/>
                </a:solidFill>
              </a:defRPr>
            </a:pPr>
            <a:r>
              <a:t>4. DRIVER: Receives job, toggles On Duty, accepts job &amp; starts trip.</a:t>
            </a:r>
          </a:p>
          <a:p>
            <a:pPr>
              <a:spcAft>
                <a:spcPts val="800"/>
              </a:spcAft>
              <a:defRPr sz="1100">
                <a:solidFill>
                  <a:srgbClr val="1E293B"/>
                </a:solidFill>
              </a:defRPr>
            </a:pPr>
            <a:r>
              <a:t>5. COLLECTION: Driver completes collection &amp; updates status to Done.</a:t>
            </a:r>
          </a:p>
          <a:p>
            <a:pPr>
              <a:spcAft>
                <a:spcPts val="800"/>
              </a:spcAft>
              <a:defRPr sz="1100">
                <a:solidFill>
                  <a:srgbClr val="1E293B"/>
                </a:solidFill>
              </a:defRPr>
            </a:pPr>
            <a:r>
              <a:t>6. AUDIT &amp; PDF: Timestamped log archived &amp; client PDF statement generated.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ystem_hero_banner_1789150463440.jpg"/>
          <p:cNvPicPr>
            <a:picLocks noChangeAspect="1"/>
          </p:cNvPicPr>
          <p:nvPr/>
        </p:nvPicPr>
        <p:blipFill>
          <a:blip r:embed="rId2"/>
          <a:stretch>
            <a:fillRect/>
          </a:stretch>
        </p:blipFill>
        <p:spPr>
          <a:xfrm>
            <a:off x="6217920" y="1097280"/>
            <a:ext cx="5394960" cy="3011140"/>
          </a:xfrm>
          <a:prstGeom prst="rect">
            <a:avLst/>
          </a:prstGeom>
        </p:spPr>
      </p:pic>
      <p:sp>
        <p:nvSpPr>
          <p:cNvPr id="4" name="TextBox 3"/>
          <p:cNvSpPr txBox="1"/>
          <p:nvPr/>
        </p:nvSpPr>
        <p:spPr>
          <a:xfrm>
            <a:off x="731520" y="1371600"/>
            <a:ext cx="5303520" cy="4114800"/>
          </a:xfrm>
          <a:prstGeom prst="rect">
            <a:avLst/>
          </a:prstGeom>
          <a:noFill/>
        </p:spPr>
        <p:txBody>
          <a:bodyPr wrap="square">
            <a:spAutoFit/>
          </a:bodyPr>
          <a:lstStyle/>
          <a:p>
            <a:pPr>
              <a:spcAft>
                <a:spcPts val="1500"/>
              </a:spcAft>
              <a:defRPr sz="4000" b="1">
                <a:solidFill>
                  <a:srgbClr val="FFFFFF"/>
                </a:solidFill>
              </a:defRPr>
            </a:pPr>
            <a:r>
              <a:t>THANK YOU!</a:t>
            </a:r>
          </a:p>
          <a:p>
            <a:pPr>
              <a:spcAft>
                <a:spcPts val="2500"/>
              </a:spcAft>
              <a:defRPr sz="2000" b="1">
                <a:solidFill>
                  <a:srgbClr val="34D399"/>
                </a:solidFill>
              </a:defRPr>
            </a:pPr>
            <a:r>
              <a:t>Questions &amp; Academic Discussion</a:t>
            </a:r>
          </a:p>
          <a:p>
            <a:pPr>
              <a:defRPr sz="1200">
                <a:solidFill>
                  <a:srgbClr val="CBD5E1"/>
                </a:solidFill>
              </a:defRPr>
            </a:pPr>
            <a:r>
              <a:t>Group Seven - Benadir University</a:t>
            </a:r>
            <a:br/>
            <a:r>
              <a:t>Faculty of Computer Science &amp; Information Technology</a:t>
            </a:r>
            <a:br/>
            <a:r>
              <a:t>Academic Session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